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184"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9579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4A9EFF"/>
          </a:solidFill>
          <a:ln w="12700">
            <a:solidFill>
              <a:srgbClr val="4A9EFF"/>
            </a:solidFill>
            <a:prstDash val="solid"/>
          </a:ln>
        </p:spPr>
        <p:txBody>
          <a:bodyPr/>
          <a:lstStyle/>
          <a:p>
            <a:endParaRPr lang="en-US"/>
          </a:p>
        </p:txBody>
      </p:sp>
      <p:sp>
        <p:nvSpPr>
          <p:cNvPr id="3" name="Shape 1"/>
          <p:cNvSpPr/>
          <p:nvPr/>
        </p:nvSpPr>
        <p:spPr>
          <a:xfrm>
            <a:off x="109728" y="0"/>
            <a:ext cx="54864" cy="5143500"/>
          </a:xfrm>
          <a:prstGeom prst="rect">
            <a:avLst/>
          </a:prstGeom>
          <a:solidFill>
            <a:srgbClr val="F47B20"/>
          </a:solidFill>
          <a:ln w="12700">
            <a:solidFill>
              <a:srgbClr val="F47B20"/>
            </a:solidFill>
            <a:prstDash val="solid"/>
          </a:ln>
        </p:spPr>
        <p:txBody>
          <a:bodyPr/>
          <a:lstStyle/>
          <a:p>
            <a:endParaRPr lang="en-US"/>
          </a:p>
        </p:txBody>
      </p:sp>
      <p:sp>
        <p:nvSpPr>
          <p:cNvPr id="4" name="Text 2"/>
          <p:cNvSpPr/>
          <p:nvPr/>
        </p:nvSpPr>
        <p:spPr>
          <a:xfrm>
            <a:off x="548640" y="640080"/>
            <a:ext cx="5486400" cy="914400"/>
          </a:xfrm>
          <a:prstGeom prst="rect">
            <a:avLst/>
          </a:prstGeom>
          <a:noFill/>
          <a:ln/>
        </p:spPr>
        <p:txBody>
          <a:bodyPr wrap="square" rtlCol="0" anchor="ctr"/>
          <a:lstStyle/>
          <a:p>
            <a:pPr marL="0" indent="0">
              <a:buNone/>
            </a:pPr>
            <a:r>
              <a:rPr lang="en-US" sz="5400" b="1" dirty="0">
                <a:solidFill>
                  <a:srgbClr val="4A9EFF"/>
                </a:solidFill>
                <a:latin typeface="Calibri" pitchFamily="34" charset="0"/>
                <a:ea typeface="Calibri" pitchFamily="34" charset="-122"/>
                <a:cs typeface="Calibri" pitchFamily="34" charset="-120"/>
              </a:rPr>
              <a:t>Demand</a:t>
            </a:r>
            <a:r>
              <a:rPr lang="en-US" sz="5400" b="1" dirty="0">
                <a:solidFill>
                  <a:srgbClr val="F47B20"/>
                </a:solidFill>
                <a:latin typeface="Calibri" pitchFamily="34" charset="0"/>
                <a:ea typeface="Calibri" pitchFamily="34" charset="-122"/>
                <a:cs typeface="Calibri" pitchFamily="34" charset="-120"/>
              </a:rPr>
              <a:t>Sense</a:t>
            </a:r>
            <a:endParaRPr lang="en-US" sz="5400" dirty="0"/>
          </a:p>
        </p:txBody>
      </p:sp>
      <p:sp>
        <p:nvSpPr>
          <p:cNvPr id="5" name="Text 3"/>
          <p:cNvSpPr/>
          <p:nvPr/>
        </p:nvSpPr>
        <p:spPr>
          <a:xfrm>
            <a:off x="548640" y="1508760"/>
            <a:ext cx="7315200" cy="365760"/>
          </a:xfrm>
          <a:prstGeom prst="rect">
            <a:avLst/>
          </a:prstGeom>
          <a:noFill/>
          <a:ln/>
        </p:spPr>
        <p:txBody>
          <a:bodyPr wrap="square" rtlCol="0" anchor="ctr"/>
          <a:lstStyle/>
          <a:p>
            <a:pPr marL="0" indent="0">
              <a:buNone/>
            </a:pPr>
            <a:r>
              <a:rPr lang="en-US" sz="1600" dirty="0">
                <a:solidFill>
                  <a:srgbClr val="C8D8F0"/>
                </a:solidFill>
                <a:latin typeface="Calibri" pitchFamily="34" charset="0"/>
                <a:ea typeface="Calibri" pitchFamily="34" charset="-122"/>
                <a:cs typeface="Calibri" pitchFamily="34" charset="-120"/>
              </a:rPr>
              <a:t>Demand Forecasting &amp; Inventory Optimization System</a:t>
            </a:r>
            <a:endParaRPr lang="en-US" sz="1600" dirty="0"/>
          </a:p>
        </p:txBody>
      </p:sp>
      <p:sp>
        <p:nvSpPr>
          <p:cNvPr id="6" name="Shape 4"/>
          <p:cNvSpPr/>
          <p:nvPr/>
        </p:nvSpPr>
        <p:spPr>
          <a:xfrm>
            <a:off x="548640" y="1965960"/>
            <a:ext cx="4572000" cy="36576"/>
          </a:xfrm>
          <a:prstGeom prst="rect">
            <a:avLst/>
          </a:prstGeom>
          <a:solidFill>
            <a:srgbClr val="4A9EFF"/>
          </a:solidFill>
          <a:ln w="12700">
            <a:solidFill>
              <a:srgbClr val="4A9EFF"/>
            </a:solidFill>
            <a:prstDash val="solid"/>
          </a:ln>
        </p:spPr>
        <p:txBody>
          <a:bodyPr/>
          <a:lstStyle/>
          <a:p>
            <a:endParaRPr lang="en-US"/>
          </a:p>
        </p:txBody>
      </p:sp>
      <p:sp>
        <p:nvSpPr>
          <p:cNvPr id="7" name="Text 5"/>
          <p:cNvSpPr/>
          <p:nvPr/>
        </p:nvSpPr>
        <p:spPr>
          <a:xfrm>
            <a:off x="548640" y="2103120"/>
            <a:ext cx="5943600" cy="292608"/>
          </a:xfrm>
          <a:prstGeom prst="rect">
            <a:avLst/>
          </a:prstGeom>
          <a:noFill/>
          <a:ln/>
        </p:spPr>
        <p:txBody>
          <a:bodyPr wrap="square" rtlCol="0" anchor="ctr"/>
          <a:lstStyle/>
          <a:p>
            <a:pPr marL="0" indent="0">
              <a:buNone/>
            </a:pPr>
            <a:r>
              <a:rPr lang="en-US" sz="1300" dirty="0">
                <a:solidFill>
                  <a:srgbClr val="C8D8F0"/>
                </a:solidFill>
                <a:latin typeface="Calibri" pitchFamily="34" charset="0"/>
                <a:ea typeface="Calibri" pitchFamily="34" charset="-122"/>
                <a:cs typeface="Calibri" pitchFamily="34" charset="-120"/>
              </a:rPr>
              <a:t>Sanchit Khandelwal  |  S24CSEU2729</a:t>
            </a:r>
            <a:endParaRPr lang="en-US" sz="1300" dirty="0"/>
          </a:p>
        </p:txBody>
      </p:sp>
      <p:sp>
        <p:nvSpPr>
          <p:cNvPr id="8" name="Text 6"/>
          <p:cNvSpPr/>
          <p:nvPr/>
        </p:nvSpPr>
        <p:spPr>
          <a:xfrm>
            <a:off x="548640" y="2423160"/>
            <a:ext cx="5943600" cy="292608"/>
          </a:xfrm>
          <a:prstGeom prst="rect">
            <a:avLst/>
          </a:prstGeom>
          <a:noFill/>
          <a:ln/>
        </p:spPr>
        <p:txBody>
          <a:bodyPr wrap="square" rtlCol="0" anchor="ctr"/>
          <a:lstStyle/>
          <a:p>
            <a:pPr marL="0" indent="0">
              <a:buNone/>
            </a:pPr>
            <a:r>
              <a:rPr lang="en-US" sz="1300" dirty="0">
                <a:solidFill>
                  <a:srgbClr val="C8D8F0"/>
                </a:solidFill>
                <a:latin typeface="Calibri" pitchFamily="34" charset="0"/>
                <a:ea typeface="Calibri" pitchFamily="34" charset="-122"/>
                <a:cs typeface="Calibri" pitchFamily="34" charset="-120"/>
              </a:rPr>
              <a:t>Lakshay Godara  |  S24CSEU2725</a:t>
            </a:r>
            <a:endParaRPr lang="en-US" sz="1300" dirty="0"/>
          </a:p>
        </p:txBody>
      </p:sp>
      <p:sp>
        <p:nvSpPr>
          <p:cNvPr id="9" name="Text 7"/>
          <p:cNvSpPr/>
          <p:nvPr/>
        </p:nvSpPr>
        <p:spPr>
          <a:xfrm>
            <a:off x="548640" y="2743200"/>
            <a:ext cx="5943600" cy="292608"/>
          </a:xfrm>
          <a:prstGeom prst="rect">
            <a:avLst/>
          </a:prstGeom>
          <a:noFill/>
          <a:ln/>
        </p:spPr>
        <p:txBody>
          <a:bodyPr wrap="square" rtlCol="0" anchor="ctr"/>
          <a:lstStyle/>
          <a:p>
            <a:pPr marL="0" indent="0">
              <a:buNone/>
            </a:pPr>
            <a:r>
              <a:rPr lang="en-US" sz="1300" dirty="0">
                <a:solidFill>
                  <a:srgbClr val="C8D8F0"/>
                </a:solidFill>
                <a:latin typeface="Calibri" pitchFamily="34" charset="0"/>
                <a:ea typeface="Calibri" pitchFamily="34" charset="-122"/>
                <a:cs typeface="Calibri" pitchFamily="34" charset="-120"/>
              </a:rPr>
              <a:t>Aniket Yadav  |  S24CSEU2724</a:t>
            </a:r>
            <a:endParaRPr lang="en-US" sz="1300" dirty="0"/>
          </a:p>
        </p:txBody>
      </p:sp>
      <p:sp>
        <p:nvSpPr>
          <p:cNvPr id="10" name="Text 8"/>
          <p:cNvSpPr/>
          <p:nvPr/>
        </p:nvSpPr>
        <p:spPr>
          <a:xfrm>
            <a:off x="548640" y="3063240"/>
            <a:ext cx="5943600" cy="292608"/>
          </a:xfrm>
          <a:prstGeom prst="rect">
            <a:avLst/>
          </a:prstGeom>
          <a:noFill/>
          <a:ln/>
        </p:spPr>
        <p:txBody>
          <a:bodyPr wrap="square" rtlCol="0" anchor="ctr"/>
          <a:lstStyle/>
          <a:p>
            <a:pPr marL="0" indent="0">
              <a:buNone/>
            </a:pPr>
            <a:r>
              <a:rPr lang="en-US" sz="1300" dirty="0">
                <a:solidFill>
                  <a:srgbClr val="C8D8F0"/>
                </a:solidFill>
                <a:latin typeface="Calibri" pitchFamily="34" charset="0"/>
                <a:ea typeface="Calibri" pitchFamily="34" charset="-122"/>
                <a:cs typeface="Calibri" pitchFamily="34" charset="-120"/>
              </a:rPr>
              <a:t>Aditya Raj Singh Parmar  |  S24CSEU2731</a:t>
            </a:r>
            <a:endParaRPr lang="en-US" sz="1300" dirty="0"/>
          </a:p>
        </p:txBody>
      </p:sp>
      <p:sp>
        <p:nvSpPr>
          <p:cNvPr id="11" name="Text 9"/>
          <p:cNvSpPr/>
          <p:nvPr/>
        </p:nvSpPr>
        <p:spPr>
          <a:xfrm>
            <a:off x="548640" y="3429000"/>
            <a:ext cx="5486400" cy="27432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Mentor: Prof. Ankit Vijay Bansal</a:t>
            </a:r>
            <a:endParaRPr lang="en-US" sz="1200" dirty="0"/>
          </a:p>
        </p:txBody>
      </p:sp>
      <p:sp>
        <p:nvSpPr>
          <p:cNvPr id="12" name="Text 10"/>
          <p:cNvSpPr/>
          <p:nvPr/>
        </p:nvSpPr>
        <p:spPr>
          <a:xfrm>
            <a:off x="548640" y="3749040"/>
            <a:ext cx="6400800" cy="27432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Bennett University, Greater Noida  |  April 2026</a:t>
            </a:r>
            <a:endParaRPr lang="en-US" sz="1200" dirty="0"/>
          </a:p>
        </p:txBody>
      </p:sp>
      <p:sp>
        <p:nvSpPr>
          <p:cNvPr id="13" name="Shape 11"/>
          <p:cNvSpPr/>
          <p:nvPr/>
        </p:nvSpPr>
        <p:spPr>
          <a:xfrm>
            <a:off x="6583680" y="1097280"/>
            <a:ext cx="2377440" cy="3474720"/>
          </a:xfrm>
          <a:prstGeom prst="rect">
            <a:avLst/>
          </a:prstGeom>
          <a:solidFill>
            <a:srgbClr val="1A2744"/>
          </a:solidFill>
          <a:ln w="6350">
            <a:solidFill>
              <a:srgbClr val="2A3F6A"/>
            </a:solidFill>
            <a:prstDash val="solid"/>
          </a:ln>
        </p:spPr>
        <p:txBody>
          <a:bodyPr/>
          <a:lstStyle/>
          <a:p>
            <a:endParaRPr lang="en-US"/>
          </a:p>
        </p:txBody>
      </p:sp>
      <p:sp>
        <p:nvSpPr>
          <p:cNvPr id="14" name="Text 12"/>
          <p:cNvSpPr/>
          <p:nvPr/>
        </p:nvSpPr>
        <p:spPr>
          <a:xfrm>
            <a:off x="6675120" y="1234440"/>
            <a:ext cx="2194560" cy="365760"/>
          </a:xfrm>
          <a:prstGeom prst="rect">
            <a:avLst/>
          </a:prstGeom>
          <a:noFill/>
          <a:ln/>
        </p:spPr>
        <p:txBody>
          <a:bodyPr wrap="square" rtlCol="0" anchor="ctr"/>
          <a:lstStyle/>
          <a:p>
            <a:pPr marL="0" indent="0" algn="ctr">
              <a:buNone/>
            </a:pPr>
            <a:r>
              <a:rPr lang="en-US" sz="2000" b="1" dirty="0">
                <a:solidFill>
                  <a:srgbClr val="4A9EFF"/>
                </a:solidFill>
                <a:latin typeface="Calibri" pitchFamily="34" charset="0"/>
                <a:ea typeface="Calibri" pitchFamily="34" charset="-122"/>
                <a:cs typeface="Calibri" pitchFamily="34" charset="-120"/>
              </a:rPr>
              <a:t>$65,125</a:t>
            </a:r>
            <a:endParaRPr lang="en-US" sz="2000" dirty="0"/>
          </a:p>
        </p:txBody>
      </p:sp>
      <p:sp>
        <p:nvSpPr>
          <p:cNvPr id="15" name="Text 13"/>
          <p:cNvSpPr/>
          <p:nvPr/>
        </p:nvSpPr>
        <p:spPr>
          <a:xfrm>
            <a:off x="6675120" y="1572768"/>
            <a:ext cx="2194560" cy="228600"/>
          </a:xfrm>
          <a:prstGeom prst="rect">
            <a:avLst/>
          </a:prstGeom>
          <a:noFill/>
          <a:ln/>
        </p:spPr>
        <p:txBody>
          <a:bodyPr wrap="square" rtlCol="0" anchor="ctr"/>
          <a:lstStyle/>
          <a:p>
            <a:pPr marL="0" indent="0" algn="ctr">
              <a:buNone/>
            </a:pPr>
            <a:r>
              <a:rPr lang="en-US" sz="1000" dirty="0">
                <a:solidFill>
                  <a:srgbClr val="8899BB"/>
                </a:solidFill>
                <a:latin typeface="Calibri" pitchFamily="34" charset="0"/>
                <a:ea typeface="Calibri" pitchFamily="34" charset="-122"/>
                <a:cs typeface="Calibri" pitchFamily="34" charset="-120"/>
              </a:rPr>
              <a:t>Next Month Forecast</a:t>
            </a:r>
            <a:endParaRPr lang="en-US" sz="1000" dirty="0"/>
          </a:p>
        </p:txBody>
      </p:sp>
      <p:sp>
        <p:nvSpPr>
          <p:cNvPr id="16" name="Text 14"/>
          <p:cNvSpPr/>
          <p:nvPr/>
        </p:nvSpPr>
        <p:spPr>
          <a:xfrm>
            <a:off x="6675120" y="2057400"/>
            <a:ext cx="2194560" cy="365760"/>
          </a:xfrm>
          <a:prstGeom prst="rect">
            <a:avLst/>
          </a:prstGeom>
          <a:noFill/>
          <a:ln/>
        </p:spPr>
        <p:txBody>
          <a:bodyPr wrap="square" rtlCol="0" anchor="ctr"/>
          <a:lstStyle/>
          <a:p>
            <a:pPr marL="0" indent="0" algn="ctr">
              <a:buNone/>
            </a:pPr>
            <a:r>
              <a:rPr lang="en-US" sz="2000" b="1" dirty="0">
                <a:solidFill>
                  <a:srgbClr val="F47B20"/>
                </a:solidFill>
                <a:latin typeface="Calibri" pitchFamily="34" charset="0"/>
                <a:ea typeface="Calibri" pitchFamily="34" charset="-122"/>
                <a:cs typeface="Calibri" pitchFamily="34" charset="-120"/>
              </a:rPr>
              <a:t>5,591 units</a:t>
            </a:r>
            <a:endParaRPr lang="en-US" sz="2000" dirty="0"/>
          </a:p>
        </p:txBody>
      </p:sp>
      <p:sp>
        <p:nvSpPr>
          <p:cNvPr id="17" name="Text 15"/>
          <p:cNvSpPr/>
          <p:nvPr/>
        </p:nvSpPr>
        <p:spPr>
          <a:xfrm>
            <a:off x="6675120" y="2395728"/>
            <a:ext cx="2194560" cy="228600"/>
          </a:xfrm>
          <a:prstGeom prst="rect">
            <a:avLst/>
          </a:prstGeom>
          <a:noFill/>
          <a:ln/>
        </p:spPr>
        <p:txBody>
          <a:bodyPr wrap="square" rtlCol="0" anchor="ctr"/>
          <a:lstStyle/>
          <a:p>
            <a:pPr marL="0" indent="0" algn="ctr">
              <a:buNone/>
            </a:pPr>
            <a:r>
              <a:rPr lang="en-US" sz="1000" dirty="0">
                <a:solidFill>
                  <a:srgbClr val="8899BB"/>
                </a:solidFill>
                <a:latin typeface="Calibri" pitchFamily="34" charset="0"/>
                <a:ea typeface="Calibri" pitchFamily="34" charset="-122"/>
                <a:cs typeface="Calibri" pitchFamily="34" charset="-120"/>
              </a:rPr>
              <a:t>Recommended Order</a:t>
            </a:r>
            <a:endParaRPr lang="en-US" sz="1000" dirty="0"/>
          </a:p>
        </p:txBody>
      </p:sp>
      <p:sp>
        <p:nvSpPr>
          <p:cNvPr id="18" name="Text 16"/>
          <p:cNvSpPr/>
          <p:nvPr/>
        </p:nvSpPr>
        <p:spPr>
          <a:xfrm>
            <a:off x="6675120" y="2880360"/>
            <a:ext cx="2194560" cy="365760"/>
          </a:xfrm>
          <a:prstGeom prst="rect">
            <a:avLst/>
          </a:prstGeom>
          <a:noFill/>
          <a:ln/>
        </p:spPr>
        <p:txBody>
          <a:bodyPr wrap="square" rtlCol="0" anchor="ctr"/>
          <a:lstStyle/>
          <a:p>
            <a:pPr marL="0" indent="0" algn="ctr">
              <a:buNone/>
            </a:pPr>
            <a:r>
              <a:rPr lang="en-US" sz="2000" b="1" dirty="0">
                <a:solidFill>
                  <a:srgbClr val="2ECC71"/>
                </a:solidFill>
                <a:latin typeface="Calibri" pitchFamily="34" charset="0"/>
                <a:ea typeface="Calibri" pitchFamily="34" charset="-122"/>
                <a:cs typeface="Calibri" pitchFamily="34" charset="-120"/>
              </a:rPr>
              <a:t>80.4%</a:t>
            </a:r>
            <a:endParaRPr lang="en-US" sz="2000" dirty="0"/>
          </a:p>
        </p:txBody>
      </p:sp>
      <p:sp>
        <p:nvSpPr>
          <p:cNvPr id="19" name="Text 17"/>
          <p:cNvSpPr/>
          <p:nvPr/>
        </p:nvSpPr>
        <p:spPr>
          <a:xfrm>
            <a:off x="6675120" y="3218688"/>
            <a:ext cx="2194560" cy="228600"/>
          </a:xfrm>
          <a:prstGeom prst="rect">
            <a:avLst/>
          </a:prstGeom>
          <a:noFill/>
          <a:ln/>
        </p:spPr>
        <p:txBody>
          <a:bodyPr wrap="square" rtlCol="0" anchor="ctr"/>
          <a:lstStyle/>
          <a:p>
            <a:pPr marL="0" indent="0" algn="ctr">
              <a:buNone/>
            </a:pPr>
            <a:r>
              <a:rPr lang="en-US" sz="1000" dirty="0">
                <a:solidFill>
                  <a:srgbClr val="8899BB"/>
                </a:solidFill>
                <a:latin typeface="Calibri" pitchFamily="34" charset="0"/>
                <a:ea typeface="Calibri" pitchFamily="34" charset="-122"/>
                <a:cs typeface="Calibri" pitchFamily="34" charset="-120"/>
              </a:rPr>
              <a:t>Model Accuracy</a:t>
            </a:r>
            <a:endParaRPr lang="en-US" sz="1000" dirty="0"/>
          </a:p>
        </p:txBody>
      </p:sp>
      <p:sp>
        <p:nvSpPr>
          <p:cNvPr id="20" name="Text 18"/>
          <p:cNvSpPr/>
          <p:nvPr/>
        </p:nvSpPr>
        <p:spPr>
          <a:xfrm>
            <a:off x="6675120" y="3703320"/>
            <a:ext cx="2194560" cy="365760"/>
          </a:xfrm>
          <a:prstGeom prst="rect">
            <a:avLst/>
          </a:prstGeom>
          <a:noFill/>
          <a:ln/>
        </p:spPr>
        <p:txBody>
          <a:bodyPr wrap="square" rtlCol="0" anchor="ctr"/>
          <a:lstStyle/>
          <a:p>
            <a:pPr marL="0" indent="0" algn="ctr">
              <a:buNone/>
            </a:pPr>
            <a:r>
              <a:rPr lang="en-US" sz="2000" b="1" dirty="0">
                <a:solidFill>
                  <a:srgbClr val="8899BB"/>
                </a:solidFill>
                <a:latin typeface="Calibri" pitchFamily="34" charset="0"/>
                <a:ea typeface="Calibri" pitchFamily="34" charset="-122"/>
                <a:cs typeface="Calibri" pitchFamily="34" charset="-120"/>
              </a:rPr>
              <a:t>19.57%</a:t>
            </a:r>
            <a:endParaRPr lang="en-US" sz="2000" dirty="0"/>
          </a:p>
        </p:txBody>
      </p:sp>
      <p:sp>
        <p:nvSpPr>
          <p:cNvPr id="21" name="Text 19"/>
          <p:cNvSpPr/>
          <p:nvPr/>
        </p:nvSpPr>
        <p:spPr>
          <a:xfrm>
            <a:off x="6675120" y="4041648"/>
            <a:ext cx="2194560" cy="228600"/>
          </a:xfrm>
          <a:prstGeom prst="rect">
            <a:avLst/>
          </a:prstGeom>
          <a:noFill/>
          <a:ln/>
        </p:spPr>
        <p:txBody>
          <a:bodyPr wrap="square" rtlCol="0" anchor="ctr"/>
          <a:lstStyle/>
          <a:p>
            <a:pPr marL="0" indent="0" algn="ctr">
              <a:buNone/>
            </a:pPr>
            <a:r>
              <a:rPr lang="en-US" sz="1000" dirty="0">
                <a:solidFill>
                  <a:srgbClr val="8899BB"/>
                </a:solidFill>
                <a:latin typeface="Calibri" pitchFamily="34" charset="0"/>
                <a:ea typeface="Calibri" pitchFamily="34" charset="-122"/>
                <a:cs typeface="Calibri" pitchFamily="34" charset="-120"/>
              </a:rPr>
              <a:t>MAPE Error Rate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24B4A"/>
          </a:solidFill>
          <a:ln w="12700">
            <a:solidFill>
              <a:srgbClr val="E24B4A"/>
            </a:solidFill>
            <a:prstDash val="solid"/>
          </a:ln>
        </p:spPr>
        <p:txBody>
          <a:bodyPr/>
          <a:lstStyle/>
          <a:p>
            <a:endParaRPr lang="en-US"/>
          </a:p>
        </p:txBody>
      </p:sp>
      <p:sp>
        <p:nvSpPr>
          <p:cNvPr id="3" name="Text 1"/>
          <p:cNvSpPr/>
          <p:nvPr/>
        </p:nvSpPr>
        <p:spPr>
          <a:xfrm>
            <a:off x="457200" y="164592"/>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The Problem We Are Solving</a:t>
            </a:r>
            <a:endParaRPr lang="en-US" sz="28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marL="0" indent="0">
              <a:buNone/>
            </a:pPr>
            <a:r>
              <a:rPr lang="en-US" sz="1300" dirty="0">
                <a:solidFill>
                  <a:srgbClr val="8899BB"/>
                </a:solidFill>
                <a:latin typeface="Calibri" pitchFamily="34" charset="0"/>
                <a:ea typeface="Calibri" pitchFamily="34" charset="-122"/>
                <a:cs typeface="Calibri" pitchFamily="34" charset="-120"/>
              </a:rPr>
              <a:t>Inventory mismanagement costs businesses billions every year</a:t>
            </a:r>
            <a:endParaRPr lang="en-US" sz="1300" dirty="0"/>
          </a:p>
        </p:txBody>
      </p:sp>
      <p:sp>
        <p:nvSpPr>
          <p:cNvPr id="5" name="Shape 3"/>
          <p:cNvSpPr/>
          <p:nvPr/>
        </p:nvSpPr>
        <p:spPr>
          <a:xfrm>
            <a:off x="365760" y="1051560"/>
            <a:ext cx="1920240" cy="228600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6" name="Shape 4"/>
          <p:cNvSpPr/>
          <p:nvPr/>
        </p:nvSpPr>
        <p:spPr>
          <a:xfrm>
            <a:off x="365760" y="1051560"/>
            <a:ext cx="1920240" cy="54864"/>
          </a:xfrm>
          <a:prstGeom prst="rect">
            <a:avLst/>
          </a:prstGeom>
          <a:solidFill>
            <a:srgbClr val="E24B4A"/>
          </a:solidFill>
          <a:ln w="12700">
            <a:solidFill>
              <a:srgbClr val="E24B4A"/>
            </a:solidFill>
            <a:prstDash val="solid"/>
          </a:ln>
        </p:spPr>
        <p:txBody>
          <a:bodyPr/>
          <a:lstStyle/>
          <a:p>
            <a:endParaRPr lang="en-US"/>
          </a:p>
        </p:txBody>
      </p:sp>
      <p:sp>
        <p:nvSpPr>
          <p:cNvPr id="7" name="Text 5"/>
          <p:cNvSpPr/>
          <p:nvPr/>
        </p:nvSpPr>
        <p:spPr>
          <a:xfrm>
            <a:off x="457200" y="1188720"/>
            <a:ext cx="1737360" cy="731520"/>
          </a:xfrm>
          <a:prstGeom prst="rect">
            <a:avLst/>
          </a:prstGeom>
          <a:noFill/>
          <a:ln/>
        </p:spPr>
        <p:txBody>
          <a:bodyPr wrap="square" rtlCol="0" anchor="ctr"/>
          <a:lstStyle/>
          <a:p>
            <a:pPr marL="0" indent="0" algn="ctr">
              <a:buNone/>
            </a:pPr>
            <a:r>
              <a:rPr lang="en-US" sz="3800" b="1" dirty="0">
                <a:solidFill>
                  <a:srgbClr val="E24B4A"/>
                </a:solidFill>
                <a:latin typeface="Calibri" pitchFamily="34" charset="0"/>
                <a:ea typeface="Calibri" pitchFamily="34" charset="-122"/>
                <a:cs typeface="Calibri" pitchFamily="34" charset="-120"/>
              </a:rPr>
              <a:t>$1.75T</a:t>
            </a:r>
            <a:endParaRPr lang="en-US" sz="3800" dirty="0"/>
          </a:p>
        </p:txBody>
      </p:sp>
      <p:sp>
        <p:nvSpPr>
          <p:cNvPr id="8" name="Text 6"/>
          <p:cNvSpPr/>
          <p:nvPr/>
        </p:nvSpPr>
        <p:spPr>
          <a:xfrm>
            <a:off x="457200" y="1920240"/>
            <a:ext cx="1737360" cy="777240"/>
          </a:xfrm>
          <a:prstGeom prst="rect">
            <a:avLst/>
          </a:prstGeom>
          <a:noFill/>
          <a:ln/>
        </p:spPr>
        <p:txBody>
          <a:bodyPr wrap="square" rtlCol="0" anchor="ctr"/>
          <a:lstStyle/>
          <a:p>
            <a:pPr marL="0" indent="0" algn="ctr">
              <a:buNone/>
            </a:pPr>
            <a:r>
              <a:rPr lang="en-US" sz="1200" dirty="0">
                <a:solidFill>
                  <a:srgbClr val="C8D8F0"/>
                </a:solidFill>
                <a:latin typeface="Calibri" pitchFamily="34" charset="0"/>
                <a:ea typeface="Calibri" pitchFamily="34" charset="-122"/>
                <a:cs typeface="Calibri" pitchFamily="34" charset="-120"/>
              </a:rPr>
              <a:t>Lost globally due to</a:t>
            </a:r>
            <a:endParaRPr lang="en-US" sz="1200" dirty="0"/>
          </a:p>
          <a:p>
            <a:pPr marL="0" indent="0" algn="ctr">
              <a:buNone/>
            </a:pPr>
            <a:r>
              <a:rPr lang="en-US" sz="1200" dirty="0">
                <a:solidFill>
                  <a:srgbClr val="C8D8F0"/>
                </a:solidFill>
                <a:latin typeface="Calibri" pitchFamily="34" charset="0"/>
                <a:ea typeface="Calibri" pitchFamily="34" charset="-122"/>
                <a:cs typeface="Calibri" pitchFamily="34" charset="-120"/>
              </a:rPr>
              <a:t>overstocking annually</a:t>
            </a:r>
            <a:endParaRPr lang="en-US" sz="1200" dirty="0"/>
          </a:p>
        </p:txBody>
      </p:sp>
      <p:sp>
        <p:nvSpPr>
          <p:cNvPr id="9" name="Shape 7"/>
          <p:cNvSpPr/>
          <p:nvPr/>
        </p:nvSpPr>
        <p:spPr>
          <a:xfrm>
            <a:off x="2514600" y="1051560"/>
            <a:ext cx="1920240" cy="228600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0" name="Shape 8"/>
          <p:cNvSpPr/>
          <p:nvPr/>
        </p:nvSpPr>
        <p:spPr>
          <a:xfrm>
            <a:off x="2514600" y="1051560"/>
            <a:ext cx="1920240" cy="54864"/>
          </a:xfrm>
          <a:prstGeom prst="rect">
            <a:avLst/>
          </a:prstGeom>
          <a:solidFill>
            <a:srgbClr val="F47B20"/>
          </a:solidFill>
          <a:ln w="12700">
            <a:solidFill>
              <a:srgbClr val="F47B20"/>
            </a:solidFill>
            <a:prstDash val="solid"/>
          </a:ln>
        </p:spPr>
        <p:txBody>
          <a:bodyPr/>
          <a:lstStyle/>
          <a:p>
            <a:endParaRPr lang="en-US"/>
          </a:p>
        </p:txBody>
      </p:sp>
      <p:sp>
        <p:nvSpPr>
          <p:cNvPr id="11" name="Text 9"/>
          <p:cNvSpPr/>
          <p:nvPr/>
        </p:nvSpPr>
        <p:spPr>
          <a:xfrm>
            <a:off x="2606040" y="1188720"/>
            <a:ext cx="1737360" cy="731520"/>
          </a:xfrm>
          <a:prstGeom prst="rect">
            <a:avLst/>
          </a:prstGeom>
          <a:noFill/>
          <a:ln/>
        </p:spPr>
        <p:txBody>
          <a:bodyPr wrap="square" rtlCol="0" anchor="ctr"/>
          <a:lstStyle/>
          <a:p>
            <a:pPr marL="0" indent="0" algn="ctr">
              <a:buNone/>
            </a:pPr>
            <a:r>
              <a:rPr lang="en-US" sz="3800" b="1" dirty="0">
                <a:solidFill>
                  <a:srgbClr val="F47B20"/>
                </a:solidFill>
                <a:latin typeface="Calibri" pitchFamily="34" charset="0"/>
                <a:ea typeface="Calibri" pitchFamily="34" charset="-122"/>
                <a:cs typeface="Calibri" pitchFamily="34" charset="-120"/>
              </a:rPr>
              <a:t>$634B</a:t>
            </a:r>
            <a:endParaRPr lang="en-US" sz="3800" dirty="0"/>
          </a:p>
        </p:txBody>
      </p:sp>
      <p:sp>
        <p:nvSpPr>
          <p:cNvPr id="12" name="Text 10"/>
          <p:cNvSpPr/>
          <p:nvPr/>
        </p:nvSpPr>
        <p:spPr>
          <a:xfrm>
            <a:off x="2606040" y="1920240"/>
            <a:ext cx="1737360" cy="777240"/>
          </a:xfrm>
          <a:prstGeom prst="rect">
            <a:avLst/>
          </a:prstGeom>
          <a:noFill/>
          <a:ln/>
        </p:spPr>
        <p:txBody>
          <a:bodyPr wrap="square" rtlCol="0" anchor="ctr"/>
          <a:lstStyle/>
          <a:p>
            <a:pPr marL="0" indent="0" algn="ctr">
              <a:buNone/>
            </a:pPr>
            <a:r>
              <a:rPr lang="en-US" sz="1200" dirty="0">
                <a:solidFill>
                  <a:srgbClr val="C8D8F0"/>
                </a:solidFill>
                <a:latin typeface="Calibri" pitchFamily="34" charset="0"/>
                <a:ea typeface="Calibri" pitchFamily="34" charset="-122"/>
                <a:cs typeface="Calibri" pitchFamily="34" charset="-120"/>
              </a:rPr>
              <a:t>Lost due to stockouts</a:t>
            </a:r>
            <a:endParaRPr lang="en-US" sz="1200" dirty="0"/>
          </a:p>
          <a:p>
            <a:pPr marL="0" indent="0" algn="ctr">
              <a:buNone/>
            </a:pPr>
            <a:r>
              <a:rPr lang="en-US" sz="1200" dirty="0">
                <a:solidFill>
                  <a:srgbClr val="C8D8F0"/>
                </a:solidFill>
                <a:latin typeface="Calibri" pitchFamily="34" charset="0"/>
                <a:ea typeface="Calibri" pitchFamily="34" charset="-122"/>
                <a:cs typeface="Calibri" pitchFamily="34" charset="-120"/>
              </a:rPr>
              <a:t>and lost sales</a:t>
            </a:r>
            <a:endParaRPr lang="en-US" sz="1200" dirty="0"/>
          </a:p>
        </p:txBody>
      </p:sp>
      <p:sp>
        <p:nvSpPr>
          <p:cNvPr id="13" name="Shape 11"/>
          <p:cNvSpPr/>
          <p:nvPr/>
        </p:nvSpPr>
        <p:spPr>
          <a:xfrm>
            <a:off x="4663440" y="1051560"/>
            <a:ext cx="1920240" cy="228600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4" name="Shape 12"/>
          <p:cNvSpPr/>
          <p:nvPr/>
        </p:nvSpPr>
        <p:spPr>
          <a:xfrm>
            <a:off x="4663440" y="1051560"/>
            <a:ext cx="1920240" cy="54864"/>
          </a:xfrm>
          <a:prstGeom prst="rect">
            <a:avLst/>
          </a:prstGeom>
          <a:solidFill>
            <a:srgbClr val="4A9EFF"/>
          </a:solidFill>
          <a:ln w="12700">
            <a:solidFill>
              <a:srgbClr val="4A9EFF"/>
            </a:solidFill>
            <a:prstDash val="solid"/>
          </a:ln>
        </p:spPr>
        <p:txBody>
          <a:bodyPr/>
          <a:lstStyle/>
          <a:p>
            <a:endParaRPr lang="en-US"/>
          </a:p>
        </p:txBody>
      </p:sp>
      <p:sp>
        <p:nvSpPr>
          <p:cNvPr id="15" name="Text 13"/>
          <p:cNvSpPr/>
          <p:nvPr/>
        </p:nvSpPr>
        <p:spPr>
          <a:xfrm>
            <a:off x="4754880" y="1188720"/>
            <a:ext cx="1737360" cy="731520"/>
          </a:xfrm>
          <a:prstGeom prst="rect">
            <a:avLst/>
          </a:prstGeom>
          <a:noFill/>
          <a:ln/>
        </p:spPr>
        <p:txBody>
          <a:bodyPr wrap="square" rtlCol="0" anchor="ctr"/>
          <a:lstStyle/>
          <a:p>
            <a:pPr marL="0" indent="0" algn="ctr">
              <a:buNone/>
            </a:pPr>
            <a:r>
              <a:rPr lang="en-US" sz="3800" b="1" dirty="0">
                <a:solidFill>
                  <a:srgbClr val="4A9EFF"/>
                </a:solidFill>
                <a:latin typeface="Calibri" pitchFamily="34" charset="0"/>
                <a:ea typeface="Calibri" pitchFamily="34" charset="-122"/>
                <a:cs typeface="Calibri" pitchFamily="34" charset="-120"/>
              </a:rPr>
              <a:t>12%</a:t>
            </a:r>
            <a:endParaRPr lang="en-US" sz="3800" dirty="0"/>
          </a:p>
        </p:txBody>
      </p:sp>
      <p:sp>
        <p:nvSpPr>
          <p:cNvPr id="16" name="Text 14"/>
          <p:cNvSpPr/>
          <p:nvPr/>
        </p:nvSpPr>
        <p:spPr>
          <a:xfrm>
            <a:off x="4754880" y="1920240"/>
            <a:ext cx="1737360" cy="777240"/>
          </a:xfrm>
          <a:prstGeom prst="rect">
            <a:avLst/>
          </a:prstGeom>
          <a:noFill/>
          <a:ln/>
        </p:spPr>
        <p:txBody>
          <a:bodyPr wrap="square" rtlCol="0" anchor="ctr"/>
          <a:lstStyle/>
          <a:p>
            <a:pPr marL="0" indent="0" algn="ctr">
              <a:buNone/>
            </a:pPr>
            <a:r>
              <a:rPr lang="en-US" sz="1200" dirty="0">
                <a:solidFill>
                  <a:srgbClr val="C8D8F0"/>
                </a:solidFill>
                <a:latin typeface="Calibri" pitchFamily="34" charset="0"/>
                <a:ea typeface="Calibri" pitchFamily="34" charset="-122"/>
                <a:cs typeface="Calibri" pitchFamily="34" charset="-120"/>
              </a:rPr>
              <a:t>Revenue lost by SMEs</a:t>
            </a:r>
            <a:endParaRPr lang="en-US" sz="1200" dirty="0"/>
          </a:p>
          <a:p>
            <a:pPr marL="0" indent="0" algn="ctr">
              <a:buNone/>
            </a:pPr>
            <a:r>
              <a:rPr lang="en-US" sz="1200" dirty="0">
                <a:solidFill>
                  <a:srgbClr val="C8D8F0"/>
                </a:solidFill>
                <a:latin typeface="Calibri" pitchFamily="34" charset="0"/>
                <a:ea typeface="Calibri" pitchFamily="34" charset="-122"/>
                <a:cs typeface="Calibri" pitchFamily="34" charset="-120"/>
              </a:rPr>
              <a:t>from inventory errors</a:t>
            </a:r>
            <a:endParaRPr lang="en-US" sz="1200" dirty="0"/>
          </a:p>
        </p:txBody>
      </p:sp>
      <p:sp>
        <p:nvSpPr>
          <p:cNvPr id="17" name="Shape 15"/>
          <p:cNvSpPr/>
          <p:nvPr/>
        </p:nvSpPr>
        <p:spPr>
          <a:xfrm>
            <a:off x="6812280" y="1051560"/>
            <a:ext cx="1920240" cy="228600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8" name="Shape 16"/>
          <p:cNvSpPr/>
          <p:nvPr/>
        </p:nvSpPr>
        <p:spPr>
          <a:xfrm>
            <a:off x="6812280" y="1051560"/>
            <a:ext cx="1920240" cy="54864"/>
          </a:xfrm>
          <a:prstGeom prst="rect">
            <a:avLst/>
          </a:prstGeom>
          <a:solidFill>
            <a:srgbClr val="8899BB"/>
          </a:solidFill>
          <a:ln w="12700">
            <a:solidFill>
              <a:srgbClr val="8899BB"/>
            </a:solidFill>
            <a:prstDash val="solid"/>
          </a:ln>
        </p:spPr>
        <p:txBody>
          <a:bodyPr/>
          <a:lstStyle/>
          <a:p>
            <a:endParaRPr lang="en-US"/>
          </a:p>
        </p:txBody>
      </p:sp>
      <p:sp>
        <p:nvSpPr>
          <p:cNvPr id="19" name="Text 17"/>
          <p:cNvSpPr/>
          <p:nvPr/>
        </p:nvSpPr>
        <p:spPr>
          <a:xfrm>
            <a:off x="6903720" y="1188720"/>
            <a:ext cx="1737360" cy="731520"/>
          </a:xfrm>
          <a:prstGeom prst="rect">
            <a:avLst/>
          </a:prstGeom>
          <a:noFill/>
          <a:ln/>
        </p:spPr>
        <p:txBody>
          <a:bodyPr wrap="square" rtlCol="0" anchor="ctr"/>
          <a:lstStyle/>
          <a:p>
            <a:pPr marL="0" indent="0" algn="ctr">
              <a:buNone/>
            </a:pPr>
            <a:r>
              <a:rPr lang="en-US" sz="3800" b="1" dirty="0">
                <a:solidFill>
                  <a:srgbClr val="8899BB"/>
                </a:solidFill>
                <a:latin typeface="Calibri" pitchFamily="34" charset="0"/>
                <a:ea typeface="Calibri" pitchFamily="34" charset="-122"/>
                <a:cs typeface="Calibri" pitchFamily="34" charset="-120"/>
              </a:rPr>
              <a:t>83%</a:t>
            </a:r>
            <a:endParaRPr lang="en-US" sz="3800" dirty="0"/>
          </a:p>
        </p:txBody>
      </p:sp>
      <p:sp>
        <p:nvSpPr>
          <p:cNvPr id="20" name="Text 18"/>
          <p:cNvSpPr/>
          <p:nvPr/>
        </p:nvSpPr>
        <p:spPr>
          <a:xfrm>
            <a:off x="6903720" y="1920240"/>
            <a:ext cx="1737360" cy="777240"/>
          </a:xfrm>
          <a:prstGeom prst="rect">
            <a:avLst/>
          </a:prstGeom>
          <a:noFill/>
          <a:ln/>
        </p:spPr>
        <p:txBody>
          <a:bodyPr wrap="square" rtlCol="0" anchor="ctr"/>
          <a:lstStyle/>
          <a:p>
            <a:pPr marL="0" indent="0" algn="ctr">
              <a:buNone/>
            </a:pPr>
            <a:r>
              <a:rPr lang="en-US" sz="1200" dirty="0">
                <a:solidFill>
                  <a:srgbClr val="C8D8F0"/>
                </a:solidFill>
                <a:latin typeface="Calibri" pitchFamily="34" charset="0"/>
                <a:ea typeface="Calibri" pitchFamily="34" charset="-122"/>
                <a:cs typeface="Calibri" pitchFamily="34" charset="-120"/>
              </a:rPr>
              <a:t>SMEs use manual</a:t>
            </a:r>
            <a:endParaRPr lang="en-US" sz="1200" dirty="0"/>
          </a:p>
          <a:p>
            <a:pPr marL="0" indent="0" algn="ctr">
              <a:buNone/>
            </a:pPr>
            <a:r>
              <a:rPr lang="en-US" sz="1200" dirty="0">
                <a:solidFill>
                  <a:srgbClr val="C8D8F0"/>
                </a:solidFill>
                <a:latin typeface="Calibri" pitchFamily="34" charset="0"/>
                <a:ea typeface="Calibri" pitchFamily="34" charset="-122"/>
                <a:cs typeface="Calibri" pitchFamily="34" charset="-120"/>
              </a:rPr>
              <a:t>spreadsheets today</a:t>
            </a:r>
            <a:endParaRPr lang="en-US" sz="1200" dirty="0"/>
          </a:p>
        </p:txBody>
      </p:sp>
      <p:sp>
        <p:nvSpPr>
          <p:cNvPr id="21" name="Shape 19"/>
          <p:cNvSpPr/>
          <p:nvPr/>
        </p:nvSpPr>
        <p:spPr>
          <a:xfrm>
            <a:off x="365760" y="3520440"/>
            <a:ext cx="8412480" cy="1280160"/>
          </a:xfrm>
          <a:prstGeom prst="rect">
            <a:avLst/>
          </a:prstGeom>
          <a:solidFill>
            <a:srgbClr val="162033"/>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22" name="Text 20"/>
          <p:cNvSpPr/>
          <p:nvPr/>
        </p:nvSpPr>
        <p:spPr>
          <a:xfrm>
            <a:off x="640080" y="3639312"/>
            <a:ext cx="7863840" cy="274320"/>
          </a:xfrm>
          <a:prstGeom prst="rect">
            <a:avLst/>
          </a:prstGeom>
          <a:noFill/>
          <a:ln/>
        </p:spPr>
        <p:txBody>
          <a:bodyPr wrap="square" rtlCol="0" anchor="ctr"/>
          <a:lstStyle/>
          <a:p>
            <a:pPr marL="0" indent="0">
              <a:buNone/>
            </a:pPr>
            <a:r>
              <a:rPr lang="en-US" sz="1300" b="1" dirty="0">
                <a:solidFill>
                  <a:srgbClr val="4A9EFF"/>
                </a:solidFill>
                <a:latin typeface="Calibri" pitchFamily="34" charset="0"/>
                <a:ea typeface="Calibri" pitchFamily="34" charset="-122"/>
                <a:cs typeface="Calibri" pitchFamily="34" charset="-120"/>
              </a:rPr>
              <a:t>Problem Statement</a:t>
            </a:r>
            <a:endParaRPr lang="en-US" sz="1300" dirty="0"/>
          </a:p>
        </p:txBody>
      </p:sp>
      <p:sp>
        <p:nvSpPr>
          <p:cNvPr id="23" name="Text 21"/>
          <p:cNvSpPr/>
          <p:nvPr/>
        </p:nvSpPr>
        <p:spPr>
          <a:xfrm>
            <a:off x="640080" y="3913632"/>
            <a:ext cx="7863840" cy="731520"/>
          </a:xfrm>
          <a:prstGeom prst="rect">
            <a:avLst/>
          </a:prstGeom>
          <a:noFill/>
          <a:ln/>
        </p:spPr>
        <p:txBody>
          <a:bodyPr wrap="square" rtlCol="0" anchor="ctr"/>
          <a:lstStyle/>
          <a:p>
            <a:pPr marL="0" indent="0">
              <a:buNone/>
            </a:pPr>
            <a:r>
              <a:rPr lang="en-US" sz="1200" dirty="0">
                <a:solidFill>
                  <a:srgbClr val="C8D8F0"/>
                </a:solidFill>
                <a:latin typeface="Calibri" pitchFamily="34" charset="0"/>
                <a:ea typeface="Calibri" pitchFamily="34" charset="-122"/>
                <a:cs typeface="Calibri" pitchFamily="34" charset="-120"/>
              </a:rPr>
              <a:t>SMEs lack access to affordable, accurate demand forecasting tools that integrate with inventory optimization. Existing solutions are either too expensive, require data science expertise, or fail to provide actionable recommendations alongside their forecasts.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9EFF"/>
          </a:solidFill>
          <a:ln w="12700">
            <a:solidFill>
              <a:srgbClr val="4A9EFF"/>
            </a:solidFill>
            <a:prstDash val="solid"/>
          </a:ln>
        </p:spPr>
        <p:txBody>
          <a:bodyPr/>
          <a:lstStyle/>
          <a:p>
            <a:endParaRPr lang="en-US"/>
          </a:p>
        </p:txBody>
      </p:sp>
      <p:sp>
        <p:nvSpPr>
          <p:cNvPr id="3" name="Text 1"/>
          <p:cNvSpPr/>
          <p:nvPr/>
        </p:nvSpPr>
        <p:spPr>
          <a:xfrm>
            <a:off x="457200" y="164592"/>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DemandSense — Our Solution</a:t>
            </a:r>
            <a:endParaRPr lang="en-US" sz="28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marL="0" indent="0">
              <a:buNone/>
            </a:pPr>
            <a:r>
              <a:rPr lang="en-US" sz="1300" dirty="0">
                <a:solidFill>
                  <a:srgbClr val="8899BB"/>
                </a:solidFill>
                <a:latin typeface="Calibri" pitchFamily="34" charset="0"/>
                <a:ea typeface="Calibri" pitchFamily="34" charset="-122"/>
                <a:cs typeface="Calibri" pitchFamily="34" charset="-120"/>
              </a:rPr>
              <a:t>A complete AI-powered decision support system for inventory intelligence</a:t>
            </a:r>
            <a:endParaRPr lang="en-US" sz="1300" dirty="0"/>
          </a:p>
        </p:txBody>
      </p:sp>
      <p:sp>
        <p:nvSpPr>
          <p:cNvPr id="5" name="Shape 3"/>
          <p:cNvSpPr/>
          <p:nvPr/>
        </p:nvSpPr>
        <p:spPr>
          <a:xfrm>
            <a:off x="365760" y="1097280"/>
            <a:ext cx="4023360" cy="109728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6" name="Text 4"/>
          <p:cNvSpPr/>
          <p:nvPr/>
        </p:nvSpPr>
        <p:spPr>
          <a:xfrm>
            <a:off x="530352" y="1188720"/>
            <a:ext cx="3657600" cy="347472"/>
          </a:xfrm>
          <a:prstGeom prst="rect">
            <a:avLst/>
          </a:prstGeom>
          <a:noFill/>
          <a:ln/>
        </p:spPr>
        <p:txBody>
          <a:bodyPr wrap="square" lIns="0" tIns="0" rIns="0" bIns="0" rtlCol="0" anchor="ctr"/>
          <a:lstStyle/>
          <a:p>
            <a:pPr marL="0" indent="0">
              <a:buNone/>
            </a:pPr>
            <a:r>
              <a:rPr lang="en-US" sz="1400" b="1" dirty="0">
                <a:solidFill>
                  <a:srgbClr val="4A9EFF"/>
                </a:solidFill>
                <a:latin typeface="Calibri" pitchFamily="34" charset="0"/>
                <a:ea typeface="Calibri" pitchFamily="34" charset="-122"/>
                <a:cs typeface="Calibri" pitchFamily="34" charset="-120"/>
              </a:rPr>
              <a:t>📊  AI Forecasting</a:t>
            </a:r>
            <a:endParaRPr lang="en-US" sz="1400" dirty="0"/>
          </a:p>
        </p:txBody>
      </p:sp>
      <p:sp>
        <p:nvSpPr>
          <p:cNvPr id="7" name="Text 5"/>
          <p:cNvSpPr/>
          <p:nvPr/>
        </p:nvSpPr>
        <p:spPr>
          <a:xfrm>
            <a:off x="530352" y="1536192"/>
            <a:ext cx="3657600" cy="502920"/>
          </a:xfrm>
          <a:prstGeom prst="rect">
            <a:avLst/>
          </a:prstGeom>
          <a:noFill/>
          <a:ln/>
        </p:spPr>
        <p:txBody>
          <a:bodyPr wrap="square" lIns="0" tIns="0" rIns="0" bIns="0" rtlCol="0" anchor="ctr"/>
          <a:lstStyle/>
          <a:p>
            <a:pPr marL="0" indent="0">
              <a:buNone/>
            </a:pPr>
            <a:r>
              <a:rPr lang="en-US" sz="1100" dirty="0">
                <a:solidFill>
                  <a:srgbClr val="C8D8F0"/>
                </a:solidFill>
                <a:latin typeface="Calibri" pitchFamily="34" charset="0"/>
                <a:ea typeface="Calibri" pitchFamily="34" charset="-122"/>
                <a:cs typeface="Calibri" pitchFamily="34" charset="-120"/>
              </a:rPr>
              <a:t>ARIMA + Gradient Boosting models trained on real retail data</a:t>
            </a:r>
            <a:endParaRPr lang="en-US" sz="1100" dirty="0"/>
          </a:p>
        </p:txBody>
      </p:sp>
      <p:sp>
        <p:nvSpPr>
          <p:cNvPr id="8" name="Shape 6"/>
          <p:cNvSpPr/>
          <p:nvPr/>
        </p:nvSpPr>
        <p:spPr>
          <a:xfrm>
            <a:off x="4663440" y="1097280"/>
            <a:ext cx="4023360" cy="109728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9" name="Text 7"/>
          <p:cNvSpPr/>
          <p:nvPr/>
        </p:nvSpPr>
        <p:spPr>
          <a:xfrm>
            <a:off x="4828032" y="1188720"/>
            <a:ext cx="3657600" cy="347472"/>
          </a:xfrm>
          <a:prstGeom prst="rect">
            <a:avLst/>
          </a:prstGeom>
          <a:noFill/>
          <a:ln/>
        </p:spPr>
        <p:txBody>
          <a:bodyPr wrap="square" lIns="0" tIns="0" rIns="0" bIns="0" rtlCol="0" anchor="ctr"/>
          <a:lstStyle/>
          <a:p>
            <a:pPr marL="0" indent="0">
              <a:buNone/>
            </a:pPr>
            <a:r>
              <a:rPr lang="en-US" sz="1400" b="1" dirty="0">
                <a:solidFill>
                  <a:srgbClr val="F47B20"/>
                </a:solidFill>
                <a:latin typeface="Calibri" pitchFamily="34" charset="0"/>
                <a:ea typeface="Calibri" pitchFamily="34" charset="-122"/>
                <a:cs typeface="Calibri" pitchFamily="34" charset="-120"/>
              </a:rPr>
              <a:t>📦  Inventory Optimizer</a:t>
            </a:r>
            <a:endParaRPr lang="en-US" sz="1400" dirty="0"/>
          </a:p>
        </p:txBody>
      </p:sp>
      <p:sp>
        <p:nvSpPr>
          <p:cNvPr id="10" name="Text 8"/>
          <p:cNvSpPr/>
          <p:nvPr/>
        </p:nvSpPr>
        <p:spPr>
          <a:xfrm>
            <a:off x="4828032" y="1536192"/>
            <a:ext cx="3657600" cy="502920"/>
          </a:xfrm>
          <a:prstGeom prst="rect">
            <a:avLst/>
          </a:prstGeom>
          <a:noFill/>
          <a:ln/>
        </p:spPr>
        <p:txBody>
          <a:bodyPr wrap="square" lIns="0" tIns="0" rIns="0" bIns="0" rtlCol="0" anchor="ctr"/>
          <a:lstStyle/>
          <a:p>
            <a:pPr marL="0" indent="0">
              <a:buNone/>
            </a:pPr>
            <a:r>
              <a:rPr lang="en-US" sz="1100" dirty="0">
                <a:solidFill>
                  <a:srgbClr val="C8D8F0"/>
                </a:solidFill>
                <a:latin typeface="Calibri" pitchFamily="34" charset="0"/>
                <a:ea typeface="Calibri" pitchFamily="34" charset="-122"/>
                <a:cs typeface="Calibri" pitchFamily="34" charset="-120"/>
              </a:rPr>
              <a:t>Automated EOQ, Safety Stock &amp; Reorder Point calculations</a:t>
            </a:r>
            <a:endParaRPr lang="en-US" sz="1100" dirty="0"/>
          </a:p>
        </p:txBody>
      </p:sp>
      <p:sp>
        <p:nvSpPr>
          <p:cNvPr id="11" name="Shape 9"/>
          <p:cNvSpPr/>
          <p:nvPr/>
        </p:nvSpPr>
        <p:spPr>
          <a:xfrm>
            <a:off x="365760" y="2331720"/>
            <a:ext cx="4023360" cy="109728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2" name="Text 10"/>
          <p:cNvSpPr/>
          <p:nvPr/>
        </p:nvSpPr>
        <p:spPr>
          <a:xfrm>
            <a:off x="530352" y="2423160"/>
            <a:ext cx="3657600" cy="347472"/>
          </a:xfrm>
          <a:prstGeom prst="rect">
            <a:avLst/>
          </a:prstGeom>
          <a:noFill/>
          <a:ln/>
        </p:spPr>
        <p:txBody>
          <a:bodyPr wrap="square" lIns="0" tIns="0" rIns="0" bIns="0" rtlCol="0" anchor="ctr"/>
          <a:lstStyle/>
          <a:p>
            <a:pPr marL="0" indent="0">
              <a:buNone/>
            </a:pPr>
            <a:r>
              <a:rPr lang="en-US" sz="1400" b="1" dirty="0">
                <a:solidFill>
                  <a:srgbClr val="2ECC71"/>
                </a:solidFill>
                <a:latin typeface="Calibri" pitchFamily="34" charset="0"/>
                <a:ea typeface="Calibri" pitchFamily="34" charset="-122"/>
                <a:cs typeface="Calibri" pitchFamily="34" charset="-120"/>
              </a:rPr>
              <a:t>🖥️  Live Dashboard</a:t>
            </a:r>
            <a:endParaRPr lang="en-US" sz="1400" dirty="0"/>
          </a:p>
        </p:txBody>
      </p:sp>
      <p:sp>
        <p:nvSpPr>
          <p:cNvPr id="13" name="Text 11"/>
          <p:cNvSpPr/>
          <p:nvPr/>
        </p:nvSpPr>
        <p:spPr>
          <a:xfrm>
            <a:off x="530352" y="2770632"/>
            <a:ext cx="3657600" cy="502920"/>
          </a:xfrm>
          <a:prstGeom prst="rect">
            <a:avLst/>
          </a:prstGeom>
          <a:noFill/>
          <a:ln/>
        </p:spPr>
        <p:txBody>
          <a:bodyPr wrap="square" lIns="0" tIns="0" rIns="0" bIns="0" rtlCol="0" anchor="ctr"/>
          <a:lstStyle/>
          <a:p>
            <a:pPr marL="0" indent="0">
              <a:buNone/>
            </a:pPr>
            <a:r>
              <a:rPr lang="en-US" sz="1100" dirty="0">
                <a:solidFill>
                  <a:srgbClr val="C8D8F0"/>
                </a:solidFill>
                <a:latin typeface="Calibri" pitchFamily="34" charset="0"/>
                <a:ea typeface="Calibri" pitchFamily="34" charset="-122"/>
                <a:cs typeface="Calibri" pitchFamily="34" charset="-120"/>
              </a:rPr>
              <a:t>Interactive dark-theme web app with real-time KPI cards</a:t>
            </a:r>
            <a:endParaRPr lang="en-US" sz="1100" dirty="0"/>
          </a:p>
        </p:txBody>
      </p:sp>
      <p:sp>
        <p:nvSpPr>
          <p:cNvPr id="14" name="Shape 12"/>
          <p:cNvSpPr/>
          <p:nvPr/>
        </p:nvSpPr>
        <p:spPr>
          <a:xfrm>
            <a:off x="4663440" y="2331720"/>
            <a:ext cx="4023360" cy="109728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5" name="Text 13"/>
          <p:cNvSpPr/>
          <p:nvPr/>
        </p:nvSpPr>
        <p:spPr>
          <a:xfrm>
            <a:off x="4828032" y="2423160"/>
            <a:ext cx="3657600" cy="347472"/>
          </a:xfrm>
          <a:prstGeom prst="rect">
            <a:avLst/>
          </a:prstGeom>
          <a:noFill/>
          <a:ln/>
        </p:spPr>
        <p:txBody>
          <a:bodyPr wrap="square" lIns="0" tIns="0" rIns="0" bIns="0" rtlCol="0" anchor="ctr"/>
          <a:lstStyle/>
          <a:p>
            <a:pPr marL="0" indent="0">
              <a:buNone/>
            </a:pPr>
            <a:r>
              <a:rPr lang="en-US" sz="1400" b="1" dirty="0">
                <a:solidFill>
                  <a:srgbClr val="8899BB"/>
                </a:solidFill>
                <a:latin typeface="Calibri" pitchFamily="34" charset="0"/>
                <a:ea typeface="Calibri" pitchFamily="34" charset="-122"/>
                <a:cs typeface="Calibri" pitchFamily="34" charset="-120"/>
              </a:rPr>
              <a:t>📂  CSV Upload</a:t>
            </a:r>
            <a:endParaRPr lang="en-US" sz="1400" dirty="0"/>
          </a:p>
        </p:txBody>
      </p:sp>
      <p:sp>
        <p:nvSpPr>
          <p:cNvPr id="16" name="Text 14"/>
          <p:cNvSpPr/>
          <p:nvPr/>
        </p:nvSpPr>
        <p:spPr>
          <a:xfrm>
            <a:off x="4828032" y="2770632"/>
            <a:ext cx="3657600" cy="502920"/>
          </a:xfrm>
          <a:prstGeom prst="rect">
            <a:avLst/>
          </a:prstGeom>
          <a:noFill/>
          <a:ln/>
        </p:spPr>
        <p:txBody>
          <a:bodyPr wrap="square" lIns="0" tIns="0" rIns="0" bIns="0" rtlCol="0" anchor="ctr"/>
          <a:lstStyle/>
          <a:p>
            <a:pPr marL="0" indent="0">
              <a:buNone/>
            </a:pPr>
            <a:r>
              <a:rPr lang="en-US" sz="1100" dirty="0">
                <a:solidFill>
                  <a:srgbClr val="C8D8F0"/>
                </a:solidFill>
                <a:latin typeface="Calibri" pitchFamily="34" charset="0"/>
                <a:ea typeface="Calibri" pitchFamily="34" charset="-122"/>
                <a:cs typeface="Calibri" pitchFamily="34" charset="-120"/>
              </a:rPr>
              <a:t>Upload any sales file — get fresh forecasts instantly</a:t>
            </a:r>
            <a:endParaRPr lang="en-US" sz="1100" dirty="0"/>
          </a:p>
        </p:txBody>
      </p:sp>
      <p:sp>
        <p:nvSpPr>
          <p:cNvPr id="17" name="Shape 15"/>
          <p:cNvSpPr/>
          <p:nvPr/>
        </p:nvSpPr>
        <p:spPr>
          <a:xfrm>
            <a:off x="365760" y="3566160"/>
            <a:ext cx="4023360" cy="109728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8" name="Text 16"/>
          <p:cNvSpPr/>
          <p:nvPr/>
        </p:nvSpPr>
        <p:spPr>
          <a:xfrm>
            <a:off x="530352" y="3657600"/>
            <a:ext cx="3657600" cy="347472"/>
          </a:xfrm>
          <a:prstGeom prst="rect">
            <a:avLst/>
          </a:prstGeom>
          <a:noFill/>
          <a:ln/>
        </p:spPr>
        <p:txBody>
          <a:bodyPr wrap="square" lIns="0" tIns="0" rIns="0" bIns="0" rtlCol="0" anchor="ctr"/>
          <a:lstStyle/>
          <a:p>
            <a:pPr marL="0" indent="0">
              <a:buNone/>
            </a:pPr>
            <a:r>
              <a:rPr lang="en-US" sz="1400" b="1" dirty="0">
                <a:solidFill>
                  <a:srgbClr val="E24B4A"/>
                </a:solidFill>
                <a:latin typeface="Calibri" pitchFamily="34" charset="0"/>
                <a:ea typeface="Calibri" pitchFamily="34" charset="-122"/>
                <a:cs typeface="Calibri" pitchFamily="34" charset="-120"/>
              </a:rPr>
              <a:t>🔔  Smart Alerts</a:t>
            </a:r>
            <a:endParaRPr lang="en-US" sz="1400" dirty="0"/>
          </a:p>
        </p:txBody>
      </p:sp>
      <p:sp>
        <p:nvSpPr>
          <p:cNvPr id="19" name="Text 17"/>
          <p:cNvSpPr/>
          <p:nvPr/>
        </p:nvSpPr>
        <p:spPr>
          <a:xfrm>
            <a:off x="530352" y="4005072"/>
            <a:ext cx="3657600" cy="502920"/>
          </a:xfrm>
          <a:prstGeom prst="rect">
            <a:avLst/>
          </a:prstGeom>
          <a:noFill/>
          <a:ln/>
        </p:spPr>
        <p:txBody>
          <a:bodyPr wrap="square" lIns="0" tIns="0" rIns="0" bIns="0" rtlCol="0" anchor="ctr"/>
          <a:lstStyle/>
          <a:p>
            <a:pPr marL="0" indent="0">
              <a:buNone/>
            </a:pPr>
            <a:r>
              <a:rPr lang="en-US" sz="1100" dirty="0">
                <a:solidFill>
                  <a:srgbClr val="C8D8F0"/>
                </a:solidFill>
                <a:latin typeface="Calibri" pitchFamily="34" charset="0"/>
                <a:ea typeface="Calibri" pitchFamily="34" charset="-122"/>
                <a:cs typeface="Calibri" pitchFamily="34" charset="-120"/>
              </a:rPr>
              <a:t>Colour-coded stock status alerts — Critical, Medium, Low</a:t>
            </a:r>
            <a:endParaRPr lang="en-US" sz="1100" dirty="0"/>
          </a:p>
        </p:txBody>
      </p:sp>
      <p:sp>
        <p:nvSpPr>
          <p:cNvPr id="20" name="Shape 18"/>
          <p:cNvSpPr/>
          <p:nvPr/>
        </p:nvSpPr>
        <p:spPr>
          <a:xfrm>
            <a:off x="4663440" y="3566160"/>
            <a:ext cx="4023360" cy="109728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21" name="Text 19"/>
          <p:cNvSpPr/>
          <p:nvPr/>
        </p:nvSpPr>
        <p:spPr>
          <a:xfrm>
            <a:off x="4828032" y="3657600"/>
            <a:ext cx="3657600" cy="347472"/>
          </a:xfrm>
          <a:prstGeom prst="rect">
            <a:avLst/>
          </a:prstGeom>
          <a:noFill/>
          <a:ln/>
        </p:spPr>
        <p:txBody>
          <a:bodyPr wrap="square" lIns="0" tIns="0" rIns="0" bIns="0" rtlCol="0" anchor="ctr"/>
          <a:lstStyle/>
          <a:p>
            <a:pPr marL="0" indent="0">
              <a:buNone/>
            </a:pPr>
            <a:r>
              <a:rPr lang="en-US" sz="1400" b="1" dirty="0">
                <a:solidFill>
                  <a:srgbClr val="4A9EFF"/>
                </a:solidFill>
                <a:latin typeface="Calibri" pitchFamily="34" charset="0"/>
                <a:ea typeface="Calibri" pitchFamily="34" charset="-122"/>
                <a:cs typeface="Calibri" pitchFamily="34" charset="-120"/>
              </a:rPr>
              <a:t>📈  Model Comparison</a:t>
            </a:r>
            <a:endParaRPr lang="en-US" sz="1400" dirty="0"/>
          </a:p>
        </p:txBody>
      </p:sp>
      <p:sp>
        <p:nvSpPr>
          <p:cNvPr id="22" name="Text 20"/>
          <p:cNvSpPr/>
          <p:nvPr/>
        </p:nvSpPr>
        <p:spPr>
          <a:xfrm>
            <a:off x="4828032" y="4005072"/>
            <a:ext cx="3657600" cy="502920"/>
          </a:xfrm>
          <a:prstGeom prst="rect">
            <a:avLst/>
          </a:prstGeom>
          <a:noFill/>
          <a:ln/>
        </p:spPr>
        <p:txBody>
          <a:bodyPr wrap="square" lIns="0" tIns="0" rIns="0" bIns="0" rtlCol="0" anchor="ctr"/>
          <a:lstStyle/>
          <a:p>
            <a:pPr marL="0" indent="0">
              <a:buNone/>
            </a:pPr>
            <a:r>
              <a:rPr lang="en-US" sz="1100" dirty="0">
                <a:solidFill>
                  <a:srgbClr val="C8D8F0"/>
                </a:solidFill>
                <a:latin typeface="Calibri" pitchFamily="34" charset="0"/>
                <a:ea typeface="Calibri" pitchFamily="34" charset="-122"/>
                <a:cs typeface="Calibri" pitchFamily="34" charset="-120"/>
              </a:rPr>
              <a:t>Transparent ARIMA vs GB performance metrics side by side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7B20"/>
          </a:solidFill>
          <a:ln w="12700">
            <a:solidFill>
              <a:srgbClr val="F47B20"/>
            </a:solidFill>
            <a:prstDash val="solid"/>
          </a:ln>
        </p:spPr>
        <p:txBody>
          <a:bodyPr/>
          <a:lstStyle/>
          <a:p>
            <a:endParaRPr lang="en-US"/>
          </a:p>
        </p:txBody>
      </p:sp>
      <p:sp>
        <p:nvSpPr>
          <p:cNvPr id="3" name="Text 1"/>
          <p:cNvSpPr/>
          <p:nvPr/>
        </p:nvSpPr>
        <p:spPr>
          <a:xfrm>
            <a:off x="457200" y="164592"/>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System Architecture</a:t>
            </a:r>
            <a:endParaRPr lang="en-US" sz="28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marL="0" indent="0">
              <a:buNone/>
            </a:pPr>
            <a:r>
              <a:rPr lang="en-US" sz="1300" dirty="0">
                <a:solidFill>
                  <a:srgbClr val="8899BB"/>
                </a:solidFill>
                <a:latin typeface="Calibri" pitchFamily="34" charset="0"/>
                <a:ea typeface="Calibri" pitchFamily="34" charset="-122"/>
                <a:cs typeface="Calibri" pitchFamily="34" charset="-120"/>
              </a:rPr>
              <a:t>3-tier full-stack architecture: React → FastAPI → ML Models</a:t>
            </a:r>
            <a:endParaRPr lang="en-US" sz="1300" dirty="0"/>
          </a:p>
        </p:txBody>
      </p:sp>
      <p:sp>
        <p:nvSpPr>
          <p:cNvPr id="5" name="Shape 3"/>
          <p:cNvSpPr/>
          <p:nvPr/>
        </p:nvSpPr>
        <p:spPr>
          <a:xfrm>
            <a:off x="365760" y="1097280"/>
            <a:ext cx="8412480" cy="100584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6" name="Shape 4"/>
          <p:cNvSpPr/>
          <p:nvPr/>
        </p:nvSpPr>
        <p:spPr>
          <a:xfrm>
            <a:off x="365760" y="1097280"/>
            <a:ext cx="1371600" cy="1005840"/>
          </a:xfrm>
          <a:prstGeom prst="rect">
            <a:avLst/>
          </a:prstGeom>
          <a:solidFill>
            <a:srgbClr val="4A9EFF"/>
          </a:solidFill>
          <a:ln w="12700">
            <a:solidFill>
              <a:srgbClr val="4A9EFF"/>
            </a:solidFill>
            <a:prstDash val="solid"/>
          </a:ln>
        </p:spPr>
        <p:txBody>
          <a:bodyPr/>
          <a:lstStyle/>
          <a:p>
            <a:endParaRPr lang="en-US"/>
          </a:p>
        </p:txBody>
      </p:sp>
      <p:sp>
        <p:nvSpPr>
          <p:cNvPr id="7" name="Text 5"/>
          <p:cNvSpPr/>
          <p:nvPr/>
        </p:nvSpPr>
        <p:spPr>
          <a:xfrm>
            <a:off x="365760" y="1188720"/>
            <a:ext cx="1371600" cy="365760"/>
          </a:xfrm>
          <a:prstGeom prst="rect">
            <a:avLst/>
          </a:prstGeom>
          <a:noFill/>
          <a:ln/>
        </p:spPr>
        <p:txBody>
          <a:bodyPr wrap="square" lIns="0" tIns="0" rIns="0" bIns="0" rtlCol="0" anchor="ctr"/>
          <a:lstStyle/>
          <a:p>
            <a:pPr marL="0" indent="0" algn="ctr">
              <a:buNone/>
            </a:pPr>
            <a:r>
              <a:rPr lang="en-US" sz="1000" b="1" dirty="0">
                <a:solidFill>
                  <a:srgbClr val="0F1729"/>
                </a:solidFill>
                <a:latin typeface="Calibri" pitchFamily="34" charset="0"/>
                <a:ea typeface="Calibri" pitchFamily="34" charset="-122"/>
                <a:cs typeface="Calibri" pitchFamily="34" charset="-120"/>
              </a:rPr>
              <a:t>LAYER 1</a:t>
            </a:r>
            <a:endParaRPr lang="en-US" sz="1000" dirty="0"/>
          </a:p>
        </p:txBody>
      </p:sp>
      <p:sp>
        <p:nvSpPr>
          <p:cNvPr id="8" name="Text 6"/>
          <p:cNvSpPr/>
          <p:nvPr/>
        </p:nvSpPr>
        <p:spPr>
          <a:xfrm>
            <a:off x="365760" y="1508760"/>
            <a:ext cx="1371600" cy="365760"/>
          </a:xfrm>
          <a:prstGeom prst="rect">
            <a:avLst/>
          </a:prstGeom>
          <a:noFill/>
          <a:ln/>
        </p:spPr>
        <p:txBody>
          <a:bodyPr wrap="square" lIns="0" tIns="0" rIns="0" bIns="0" rtlCol="0" anchor="ctr"/>
          <a:lstStyle/>
          <a:p>
            <a:pPr marL="0" indent="0" algn="ctr">
              <a:buNone/>
            </a:pPr>
            <a:r>
              <a:rPr lang="en-US" sz="1300" b="1" dirty="0">
                <a:solidFill>
                  <a:srgbClr val="0F1729"/>
                </a:solidFill>
                <a:latin typeface="Calibri" pitchFamily="34" charset="0"/>
                <a:ea typeface="Calibri" pitchFamily="34" charset="-122"/>
                <a:cs typeface="Calibri" pitchFamily="34" charset="-120"/>
              </a:rPr>
              <a:t>React Frontend</a:t>
            </a:r>
            <a:endParaRPr lang="en-US" sz="1300" dirty="0"/>
          </a:p>
        </p:txBody>
      </p:sp>
      <p:sp>
        <p:nvSpPr>
          <p:cNvPr id="9" name="Text 7"/>
          <p:cNvSpPr/>
          <p:nvPr/>
        </p:nvSpPr>
        <p:spPr>
          <a:xfrm>
            <a:off x="1874520" y="1207008"/>
            <a:ext cx="530352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Dashboard • Upload Page • Charts • KPI Cards</a:t>
            </a:r>
            <a:endParaRPr lang="en-US" sz="1300" dirty="0"/>
          </a:p>
        </p:txBody>
      </p:sp>
      <p:sp>
        <p:nvSpPr>
          <p:cNvPr id="10" name="Text 8"/>
          <p:cNvSpPr/>
          <p:nvPr/>
        </p:nvSpPr>
        <p:spPr>
          <a:xfrm>
            <a:off x="1874520" y="1645920"/>
            <a:ext cx="5303520" cy="320040"/>
          </a:xfrm>
          <a:prstGeom prst="rect">
            <a:avLst/>
          </a:prstGeom>
          <a:noFill/>
          <a:ln/>
        </p:spPr>
        <p:txBody>
          <a:bodyPr wrap="square" lIns="0" tIns="0" rIns="0" bIns="0" rtlCol="0" anchor="ctr"/>
          <a:lstStyle/>
          <a:p>
            <a:pPr marL="0" indent="0">
              <a:buNone/>
            </a:pPr>
            <a:r>
              <a:rPr lang="en-US" sz="1000" dirty="0">
                <a:solidFill>
                  <a:srgbClr val="8899BB"/>
                </a:solidFill>
                <a:latin typeface="Calibri" pitchFamily="34" charset="0"/>
                <a:ea typeface="Calibri" pitchFamily="34" charset="-122"/>
                <a:cs typeface="Calibri" pitchFamily="34" charset="-120"/>
              </a:rPr>
              <a:t>Dashboard  |  Upload Page  |  Charts  |  KPI Cards</a:t>
            </a:r>
            <a:endParaRPr lang="en-US" sz="1000" dirty="0"/>
          </a:p>
        </p:txBody>
      </p:sp>
      <p:sp>
        <p:nvSpPr>
          <p:cNvPr id="11" name="Shape 9"/>
          <p:cNvSpPr/>
          <p:nvPr/>
        </p:nvSpPr>
        <p:spPr>
          <a:xfrm>
            <a:off x="7406640" y="1280160"/>
            <a:ext cx="1188720" cy="640080"/>
          </a:xfrm>
          <a:prstGeom prst="rect">
            <a:avLst/>
          </a:prstGeom>
          <a:solidFill>
            <a:srgbClr val="0B1220"/>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2" name="Text 10"/>
          <p:cNvSpPr/>
          <p:nvPr/>
        </p:nvSpPr>
        <p:spPr>
          <a:xfrm>
            <a:off x="7406640" y="1353312"/>
            <a:ext cx="1188720" cy="365760"/>
          </a:xfrm>
          <a:prstGeom prst="rect">
            <a:avLst/>
          </a:prstGeom>
          <a:noFill/>
          <a:ln/>
        </p:spPr>
        <p:txBody>
          <a:bodyPr wrap="square" rtlCol="0" anchor="ctr"/>
          <a:lstStyle/>
          <a:p>
            <a:pPr marL="0" indent="0" algn="ctr">
              <a:buNone/>
            </a:pPr>
            <a:r>
              <a:rPr lang="en-US" sz="900" b="1" dirty="0">
                <a:solidFill>
                  <a:srgbClr val="4A9EFF"/>
                </a:solidFill>
                <a:latin typeface="Calibri" pitchFamily="34" charset="0"/>
                <a:ea typeface="Calibri" pitchFamily="34" charset="-122"/>
                <a:cs typeface="Calibri" pitchFamily="34" charset="-120"/>
              </a:rPr>
              <a:t>localhost:3000</a:t>
            </a:r>
            <a:endParaRPr lang="en-US" sz="900" dirty="0"/>
          </a:p>
        </p:txBody>
      </p:sp>
      <p:sp>
        <p:nvSpPr>
          <p:cNvPr id="13" name="Text 11"/>
          <p:cNvSpPr/>
          <p:nvPr/>
        </p:nvSpPr>
        <p:spPr>
          <a:xfrm>
            <a:off x="4297680" y="2103120"/>
            <a:ext cx="548640" cy="274320"/>
          </a:xfrm>
          <a:prstGeom prst="rect">
            <a:avLst/>
          </a:prstGeom>
          <a:noFill/>
          <a:ln/>
        </p:spPr>
        <p:txBody>
          <a:bodyPr wrap="square" rtlCol="0" anchor="ctr"/>
          <a:lstStyle/>
          <a:p>
            <a:pPr marL="0" indent="0" algn="ctr">
              <a:buNone/>
            </a:pPr>
            <a:r>
              <a:rPr lang="en-US" sz="1800" dirty="0">
                <a:solidFill>
                  <a:srgbClr val="8899BB"/>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365760" y="2286000"/>
            <a:ext cx="8412480" cy="100584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5" name="Shape 13"/>
          <p:cNvSpPr/>
          <p:nvPr/>
        </p:nvSpPr>
        <p:spPr>
          <a:xfrm>
            <a:off x="365760" y="2286000"/>
            <a:ext cx="1371600" cy="1005840"/>
          </a:xfrm>
          <a:prstGeom prst="rect">
            <a:avLst/>
          </a:prstGeom>
          <a:solidFill>
            <a:srgbClr val="F47B20"/>
          </a:solidFill>
          <a:ln w="12700">
            <a:solidFill>
              <a:srgbClr val="F47B20"/>
            </a:solidFill>
            <a:prstDash val="solid"/>
          </a:ln>
        </p:spPr>
        <p:txBody>
          <a:bodyPr/>
          <a:lstStyle/>
          <a:p>
            <a:endParaRPr lang="en-US"/>
          </a:p>
        </p:txBody>
      </p:sp>
      <p:sp>
        <p:nvSpPr>
          <p:cNvPr id="16" name="Text 14"/>
          <p:cNvSpPr/>
          <p:nvPr/>
        </p:nvSpPr>
        <p:spPr>
          <a:xfrm>
            <a:off x="365760" y="2377440"/>
            <a:ext cx="1371600" cy="365760"/>
          </a:xfrm>
          <a:prstGeom prst="rect">
            <a:avLst/>
          </a:prstGeom>
          <a:noFill/>
          <a:ln/>
        </p:spPr>
        <p:txBody>
          <a:bodyPr wrap="square" lIns="0" tIns="0" rIns="0" bIns="0" rtlCol="0" anchor="ctr"/>
          <a:lstStyle/>
          <a:p>
            <a:pPr marL="0" indent="0" algn="ctr">
              <a:buNone/>
            </a:pPr>
            <a:r>
              <a:rPr lang="en-US" sz="1000" b="1" dirty="0">
                <a:solidFill>
                  <a:srgbClr val="0F1729"/>
                </a:solidFill>
                <a:latin typeface="Calibri" pitchFamily="34" charset="0"/>
                <a:ea typeface="Calibri" pitchFamily="34" charset="-122"/>
                <a:cs typeface="Calibri" pitchFamily="34" charset="-120"/>
              </a:rPr>
              <a:t>LAYER 2</a:t>
            </a:r>
            <a:endParaRPr lang="en-US" sz="1000" dirty="0"/>
          </a:p>
        </p:txBody>
      </p:sp>
      <p:sp>
        <p:nvSpPr>
          <p:cNvPr id="17" name="Text 15"/>
          <p:cNvSpPr/>
          <p:nvPr/>
        </p:nvSpPr>
        <p:spPr>
          <a:xfrm>
            <a:off x="365760" y="2697480"/>
            <a:ext cx="1371600" cy="365760"/>
          </a:xfrm>
          <a:prstGeom prst="rect">
            <a:avLst/>
          </a:prstGeom>
          <a:noFill/>
          <a:ln/>
        </p:spPr>
        <p:txBody>
          <a:bodyPr wrap="square" lIns="0" tIns="0" rIns="0" bIns="0" rtlCol="0" anchor="ctr"/>
          <a:lstStyle/>
          <a:p>
            <a:pPr marL="0" indent="0" algn="ctr">
              <a:buNone/>
            </a:pPr>
            <a:r>
              <a:rPr lang="en-US" sz="1300" b="1" dirty="0">
                <a:solidFill>
                  <a:srgbClr val="0F1729"/>
                </a:solidFill>
                <a:latin typeface="Calibri" pitchFamily="34" charset="0"/>
                <a:ea typeface="Calibri" pitchFamily="34" charset="-122"/>
                <a:cs typeface="Calibri" pitchFamily="34" charset="-120"/>
              </a:rPr>
              <a:t>FastAPI Backend</a:t>
            </a:r>
            <a:endParaRPr lang="en-US" sz="1300" dirty="0"/>
          </a:p>
        </p:txBody>
      </p:sp>
      <p:sp>
        <p:nvSpPr>
          <p:cNvPr id="18" name="Text 16"/>
          <p:cNvSpPr/>
          <p:nvPr/>
        </p:nvSpPr>
        <p:spPr>
          <a:xfrm>
            <a:off x="1874520" y="2395728"/>
            <a:ext cx="530352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/upload • /forecast • /inventory • /dashboard</a:t>
            </a:r>
            <a:endParaRPr lang="en-US" sz="1300" dirty="0"/>
          </a:p>
        </p:txBody>
      </p:sp>
      <p:sp>
        <p:nvSpPr>
          <p:cNvPr id="19" name="Text 17"/>
          <p:cNvSpPr/>
          <p:nvPr/>
        </p:nvSpPr>
        <p:spPr>
          <a:xfrm>
            <a:off x="1874520" y="2834640"/>
            <a:ext cx="5303520" cy="320040"/>
          </a:xfrm>
          <a:prstGeom prst="rect">
            <a:avLst/>
          </a:prstGeom>
          <a:noFill/>
          <a:ln/>
        </p:spPr>
        <p:txBody>
          <a:bodyPr wrap="square" lIns="0" tIns="0" rIns="0" bIns="0" rtlCol="0" anchor="ctr"/>
          <a:lstStyle/>
          <a:p>
            <a:pPr marL="0" indent="0">
              <a:buNone/>
            </a:pPr>
            <a:r>
              <a:rPr lang="en-US" sz="1000" dirty="0">
                <a:solidFill>
                  <a:srgbClr val="8899BB"/>
                </a:solidFill>
                <a:latin typeface="Calibri" pitchFamily="34" charset="0"/>
                <a:ea typeface="Calibri" pitchFamily="34" charset="-122"/>
                <a:cs typeface="Calibri" pitchFamily="34" charset="-120"/>
              </a:rPr>
              <a:t>/upload  |  /forecast  |  /inventory  |  /dashboard</a:t>
            </a:r>
            <a:endParaRPr lang="en-US" sz="1000" dirty="0"/>
          </a:p>
        </p:txBody>
      </p:sp>
      <p:sp>
        <p:nvSpPr>
          <p:cNvPr id="20" name="Shape 18"/>
          <p:cNvSpPr/>
          <p:nvPr/>
        </p:nvSpPr>
        <p:spPr>
          <a:xfrm>
            <a:off x="7406640" y="2468880"/>
            <a:ext cx="1188720" cy="640080"/>
          </a:xfrm>
          <a:prstGeom prst="rect">
            <a:avLst/>
          </a:prstGeom>
          <a:solidFill>
            <a:srgbClr val="0B1220"/>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21" name="Text 19"/>
          <p:cNvSpPr/>
          <p:nvPr/>
        </p:nvSpPr>
        <p:spPr>
          <a:xfrm>
            <a:off x="7406640" y="2542032"/>
            <a:ext cx="1188720" cy="365760"/>
          </a:xfrm>
          <a:prstGeom prst="rect">
            <a:avLst/>
          </a:prstGeom>
          <a:noFill/>
          <a:ln/>
        </p:spPr>
        <p:txBody>
          <a:bodyPr wrap="square" rtlCol="0" anchor="ctr"/>
          <a:lstStyle/>
          <a:p>
            <a:pPr marL="0" indent="0" algn="ctr">
              <a:buNone/>
            </a:pPr>
            <a:r>
              <a:rPr lang="en-US" sz="900" b="1" dirty="0">
                <a:solidFill>
                  <a:srgbClr val="F47B20"/>
                </a:solidFill>
                <a:latin typeface="Calibri" pitchFamily="34" charset="0"/>
                <a:ea typeface="Calibri" pitchFamily="34" charset="-122"/>
                <a:cs typeface="Calibri" pitchFamily="34" charset="-120"/>
              </a:rPr>
              <a:t>localhost:8000</a:t>
            </a:r>
            <a:endParaRPr lang="en-US" sz="900" dirty="0"/>
          </a:p>
        </p:txBody>
      </p:sp>
      <p:sp>
        <p:nvSpPr>
          <p:cNvPr id="22" name="Text 20"/>
          <p:cNvSpPr/>
          <p:nvPr/>
        </p:nvSpPr>
        <p:spPr>
          <a:xfrm>
            <a:off x="4297680" y="3291840"/>
            <a:ext cx="548640" cy="274320"/>
          </a:xfrm>
          <a:prstGeom prst="rect">
            <a:avLst/>
          </a:prstGeom>
          <a:noFill/>
          <a:ln/>
        </p:spPr>
        <p:txBody>
          <a:bodyPr wrap="square" rtlCol="0" anchor="ctr"/>
          <a:lstStyle/>
          <a:p>
            <a:pPr marL="0" indent="0" algn="ctr">
              <a:buNone/>
            </a:pPr>
            <a:r>
              <a:rPr lang="en-US" sz="1800" dirty="0">
                <a:solidFill>
                  <a:srgbClr val="8899BB"/>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365760" y="3474720"/>
            <a:ext cx="8412480" cy="100584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24" name="Shape 22"/>
          <p:cNvSpPr/>
          <p:nvPr/>
        </p:nvSpPr>
        <p:spPr>
          <a:xfrm>
            <a:off x="365760" y="3474720"/>
            <a:ext cx="1371600" cy="1005840"/>
          </a:xfrm>
          <a:prstGeom prst="rect">
            <a:avLst/>
          </a:prstGeom>
          <a:solidFill>
            <a:srgbClr val="2ECC71"/>
          </a:solidFill>
          <a:ln w="12700">
            <a:solidFill>
              <a:srgbClr val="2ECC71"/>
            </a:solidFill>
            <a:prstDash val="solid"/>
          </a:ln>
        </p:spPr>
        <p:txBody>
          <a:bodyPr/>
          <a:lstStyle/>
          <a:p>
            <a:endParaRPr lang="en-US"/>
          </a:p>
        </p:txBody>
      </p:sp>
      <p:sp>
        <p:nvSpPr>
          <p:cNvPr id="25" name="Text 23"/>
          <p:cNvSpPr/>
          <p:nvPr/>
        </p:nvSpPr>
        <p:spPr>
          <a:xfrm>
            <a:off x="365760" y="3566160"/>
            <a:ext cx="1371600" cy="365760"/>
          </a:xfrm>
          <a:prstGeom prst="rect">
            <a:avLst/>
          </a:prstGeom>
          <a:noFill/>
          <a:ln/>
        </p:spPr>
        <p:txBody>
          <a:bodyPr wrap="square" lIns="0" tIns="0" rIns="0" bIns="0" rtlCol="0" anchor="ctr"/>
          <a:lstStyle/>
          <a:p>
            <a:pPr marL="0" indent="0" algn="ctr">
              <a:buNone/>
            </a:pPr>
            <a:r>
              <a:rPr lang="en-US" sz="1000" b="1" dirty="0">
                <a:solidFill>
                  <a:srgbClr val="0F1729"/>
                </a:solidFill>
                <a:latin typeface="Calibri" pitchFamily="34" charset="0"/>
                <a:ea typeface="Calibri" pitchFamily="34" charset="-122"/>
                <a:cs typeface="Calibri" pitchFamily="34" charset="-120"/>
              </a:rPr>
              <a:t>LAYER 3</a:t>
            </a:r>
            <a:endParaRPr lang="en-US" sz="1000" dirty="0"/>
          </a:p>
        </p:txBody>
      </p:sp>
      <p:sp>
        <p:nvSpPr>
          <p:cNvPr id="26" name="Text 24"/>
          <p:cNvSpPr/>
          <p:nvPr/>
        </p:nvSpPr>
        <p:spPr>
          <a:xfrm>
            <a:off x="365760" y="3886200"/>
            <a:ext cx="1371600" cy="365760"/>
          </a:xfrm>
          <a:prstGeom prst="rect">
            <a:avLst/>
          </a:prstGeom>
          <a:noFill/>
          <a:ln/>
        </p:spPr>
        <p:txBody>
          <a:bodyPr wrap="square" lIns="0" tIns="0" rIns="0" bIns="0" rtlCol="0" anchor="ctr"/>
          <a:lstStyle/>
          <a:p>
            <a:pPr marL="0" indent="0" algn="ctr">
              <a:buNone/>
            </a:pPr>
            <a:r>
              <a:rPr lang="en-US" sz="1300" b="1" dirty="0">
                <a:solidFill>
                  <a:srgbClr val="0F1729"/>
                </a:solidFill>
                <a:latin typeface="Calibri" pitchFamily="34" charset="0"/>
                <a:ea typeface="Calibri" pitchFamily="34" charset="-122"/>
                <a:cs typeface="Calibri" pitchFamily="34" charset="-120"/>
              </a:rPr>
              <a:t>ML &amp; Data Layer</a:t>
            </a:r>
            <a:endParaRPr lang="en-US" sz="1300" dirty="0"/>
          </a:p>
        </p:txBody>
      </p:sp>
      <p:sp>
        <p:nvSpPr>
          <p:cNvPr id="27" name="Text 25"/>
          <p:cNvSpPr/>
          <p:nvPr/>
        </p:nvSpPr>
        <p:spPr>
          <a:xfrm>
            <a:off x="1874520" y="3584448"/>
            <a:ext cx="530352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Gradient Boosting • ARIMA • EOQ Engine</a:t>
            </a:r>
            <a:endParaRPr lang="en-US" sz="1300" dirty="0"/>
          </a:p>
        </p:txBody>
      </p:sp>
      <p:sp>
        <p:nvSpPr>
          <p:cNvPr id="28" name="Text 26"/>
          <p:cNvSpPr/>
          <p:nvPr/>
        </p:nvSpPr>
        <p:spPr>
          <a:xfrm>
            <a:off x="1874520" y="4023360"/>
            <a:ext cx="5303520" cy="320040"/>
          </a:xfrm>
          <a:prstGeom prst="rect">
            <a:avLst/>
          </a:prstGeom>
          <a:noFill/>
          <a:ln/>
        </p:spPr>
        <p:txBody>
          <a:bodyPr wrap="square" lIns="0" tIns="0" rIns="0" bIns="0" rtlCol="0" anchor="ctr"/>
          <a:lstStyle/>
          <a:p>
            <a:pPr marL="0" indent="0">
              <a:buNone/>
            </a:pPr>
            <a:r>
              <a:rPr lang="en-US" sz="1000" dirty="0">
                <a:solidFill>
                  <a:srgbClr val="8899BB"/>
                </a:solidFill>
                <a:latin typeface="Calibri" pitchFamily="34" charset="0"/>
                <a:ea typeface="Calibri" pitchFamily="34" charset="-122"/>
                <a:cs typeface="Calibri" pitchFamily="34" charset="-120"/>
              </a:rPr>
              <a:t>Gradient Boosting  |  ARIMA  |  EOQ Engine</a:t>
            </a:r>
            <a:endParaRPr lang="en-US" sz="1000" dirty="0"/>
          </a:p>
        </p:txBody>
      </p:sp>
      <p:sp>
        <p:nvSpPr>
          <p:cNvPr id="29" name="Shape 27"/>
          <p:cNvSpPr/>
          <p:nvPr/>
        </p:nvSpPr>
        <p:spPr>
          <a:xfrm>
            <a:off x="7406640" y="3657600"/>
            <a:ext cx="1188720" cy="640080"/>
          </a:xfrm>
          <a:prstGeom prst="rect">
            <a:avLst/>
          </a:prstGeom>
          <a:solidFill>
            <a:srgbClr val="0B1220"/>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30" name="Text 28"/>
          <p:cNvSpPr/>
          <p:nvPr/>
        </p:nvSpPr>
        <p:spPr>
          <a:xfrm>
            <a:off x="7406640" y="3730752"/>
            <a:ext cx="1188720" cy="365760"/>
          </a:xfrm>
          <a:prstGeom prst="rect">
            <a:avLst/>
          </a:prstGeom>
          <a:noFill/>
          <a:ln/>
        </p:spPr>
        <p:txBody>
          <a:bodyPr wrap="square" rtlCol="0" anchor="ctr"/>
          <a:lstStyle/>
          <a:p>
            <a:pPr marL="0" indent="0" algn="ctr">
              <a:buNone/>
            </a:pPr>
            <a:r>
              <a:rPr lang="en-US" sz="900" b="1" dirty="0">
                <a:solidFill>
                  <a:srgbClr val="2ECC71"/>
                </a:solidFill>
                <a:latin typeface="Calibri" pitchFamily="34" charset="0"/>
                <a:ea typeface="Calibri" pitchFamily="34" charset="-122"/>
                <a:cs typeface="Calibri" pitchFamily="34" charset="-120"/>
              </a:rPr>
              <a:t>gb_model.pkl</a:t>
            </a:r>
            <a:endParaRPr lang="en-US" sz="900" dirty="0"/>
          </a:p>
        </p:txBody>
      </p:sp>
      <p:sp>
        <p:nvSpPr>
          <p:cNvPr id="31" name="Text 29"/>
          <p:cNvSpPr/>
          <p:nvPr/>
        </p:nvSpPr>
        <p:spPr>
          <a:xfrm>
            <a:off x="365760" y="4663440"/>
            <a:ext cx="8412480" cy="274320"/>
          </a:xfrm>
          <a:prstGeom prst="rect">
            <a:avLst/>
          </a:prstGeom>
          <a:noFill/>
          <a:ln/>
        </p:spPr>
        <p:txBody>
          <a:bodyPr wrap="square" rtlCol="0" anchor="ctr"/>
          <a:lstStyle/>
          <a:p>
            <a:pPr marL="0" indent="0" algn="ctr">
              <a:buNone/>
            </a:pPr>
            <a:r>
              <a:rPr lang="en-US" sz="1000" dirty="0">
                <a:solidFill>
                  <a:srgbClr val="8899BB"/>
                </a:solidFill>
                <a:latin typeface="Calibri" pitchFamily="34" charset="0"/>
                <a:ea typeface="Calibri" pitchFamily="34" charset="-122"/>
                <a:cs typeface="Calibri" pitchFamily="34" charset="-120"/>
              </a:rPr>
              <a:t>CORS enabled  •  Stateless REST  •  JSON responses  •  Real-time model inference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CC71"/>
          </a:solidFill>
          <a:ln w="12700">
            <a:solidFill>
              <a:srgbClr val="2ECC71"/>
            </a:solidFill>
            <a:prstDash val="solid"/>
          </a:ln>
        </p:spPr>
        <p:txBody>
          <a:bodyPr/>
          <a:lstStyle/>
          <a:p>
            <a:endParaRPr lang="en-US"/>
          </a:p>
        </p:txBody>
      </p:sp>
      <p:sp>
        <p:nvSpPr>
          <p:cNvPr id="3" name="Text 1"/>
          <p:cNvSpPr/>
          <p:nvPr/>
        </p:nvSpPr>
        <p:spPr>
          <a:xfrm>
            <a:off x="457200" y="164592"/>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Dataset &amp; Exploratory Data Analysis</a:t>
            </a:r>
            <a:endParaRPr lang="en-US" sz="28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marL="0" indent="0">
              <a:buNone/>
            </a:pPr>
            <a:r>
              <a:rPr lang="en-US" sz="1300" dirty="0">
                <a:solidFill>
                  <a:srgbClr val="8899BB"/>
                </a:solidFill>
                <a:latin typeface="Calibri" pitchFamily="34" charset="0"/>
                <a:ea typeface="Calibri" pitchFamily="34" charset="-122"/>
                <a:cs typeface="Calibri" pitchFamily="34" charset="-120"/>
              </a:rPr>
              <a:t>Kaggle Superstore Sales Dataset — 9,994 records, 2014–2017</a:t>
            </a:r>
            <a:endParaRPr lang="en-US" sz="1300" dirty="0"/>
          </a:p>
        </p:txBody>
      </p:sp>
      <p:sp>
        <p:nvSpPr>
          <p:cNvPr id="5" name="Shape 3"/>
          <p:cNvSpPr/>
          <p:nvPr/>
        </p:nvSpPr>
        <p:spPr>
          <a:xfrm>
            <a:off x="365760" y="1051560"/>
            <a:ext cx="1828800" cy="82296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6" name="Text 4"/>
          <p:cNvSpPr/>
          <p:nvPr/>
        </p:nvSpPr>
        <p:spPr>
          <a:xfrm>
            <a:off x="457200" y="1097280"/>
            <a:ext cx="1645920" cy="411480"/>
          </a:xfrm>
          <a:prstGeom prst="rect">
            <a:avLst/>
          </a:prstGeom>
          <a:noFill/>
          <a:ln/>
        </p:spPr>
        <p:txBody>
          <a:bodyPr wrap="square" rtlCol="0" anchor="ctr"/>
          <a:lstStyle/>
          <a:p>
            <a:pPr marL="0" indent="0" algn="ctr">
              <a:buNone/>
            </a:pPr>
            <a:r>
              <a:rPr lang="en-US" sz="2000" b="1" dirty="0">
                <a:solidFill>
                  <a:srgbClr val="4A9EFF"/>
                </a:solidFill>
                <a:latin typeface="Calibri" pitchFamily="34" charset="0"/>
                <a:ea typeface="Calibri" pitchFamily="34" charset="-122"/>
                <a:cs typeface="Calibri" pitchFamily="34" charset="-120"/>
              </a:rPr>
              <a:t>9,994</a:t>
            </a:r>
            <a:endParaRPr lang="en-US" sz="2000" dirty="0"/>
          </a:p>
        </p:txBody>
      </p:sp>
      <p:sp>
        <p:nvSpPr>
          <p:cNvPr id="7" name="Text 5"/>
          <p:cNvSpPr/>
          <p:nvPr/>
        </p:nvSpPr>
        <p:spPr>
          <a:xfrm>
            <a:off x="457200" y="1508760"/>
            <a:ext cx="1645920" cy="274320"/>
          </a:xfrm>
          <a:prstGeom prst="rect">
            <a:avLst/>
          </a:prstGeom>
          <a:noFill/>
          <a:ln/>
        </p:spPr>
        <p:txBody>
          <a:bodyPr wrap="square" rtlCol="0" anchor="ctr"/>
          <a:lstStyle/>
          <a:p>
            <a:pPr marL="0" indent="0" algn="ctr">
              <a:buNone/>
            </a:pPr>
            <a:r>
              <a:rPr lang="en-US" sz="1000" dirty="0">
                <a:solidFill>
                  <a:srgbClr val="8899BB"/>
                </a:solidFill>
                <a:latin typeface="Calibri" pitchFamily="34" charset="0"/>
                <a:ea typeface="Calibri" pitchFamily="34" charset="-122"/>
                <a:cs typeface="Calibri" pitchFamily="34" charset="-120"/>
              </a:rPr>
              <a:t>Total Records</a:t>
            </a:r>
            <a:endParaRPr lang="en-US" sz="1000" dirty="0"/>
          </a:p>
        </p:txBody>
      </p:sp>
      <p:sp>
        <p:nvSpPr>
          <p:cNvPr id="8" name="Shape 6"/>
          <p:cNvSpPr/>
          <p:nvPr/>
        </p:nvSpPr>
        <p:spPr>
          <a:xfrm>
            <a:off x="2377440" y="1051560"/>
            <a:ext cx="1828800" cy="82296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9" name="Text 7"/>
          <p:cNvSpPr/>
          <p:nvPr/>
        </p:nvSpPr>
        <p:spPr>
          <a:xfrm>
            <a:off x="2468880" y="1097280"/>
            <a:ext cx="1645920" cy="411480"/>
          </a:xfrm>
          <a:prstGeom prst="rect">
            <a:avLst/>
          </a:prstGeom>
          <a:noFill/>
          <a:ln/>
        </p:spPr>
        <p:txBody>
          <a:bodyPr wrap="square" rtlCol="0" anchor="ctr"/>
          <a:lstStyle/>
          <a:p>
            <a:pPr marL="0" indent="0" algn="ctr">
              <a:buNone/>
            </a:pPr>
            <a:r>
              <a:rPr lang="en-US" sz="2000" b="1" dirty="0">
                <a:solidFill>
                  <a:srgbClr val="F47B20"/>
                </a:solidFill>
                <a:latin typeface="Calibri" pitchFamily="34" charset="0"/>
                <a:ea typeface="Calibri" pitchFamily="34" charset="-122"/>
                <a:cs typeface="Calibri" pitchFamily="34" charset="-120"/>
              </a:rPr>
              <a:t>21</a:t>
            </a:r>
            <a:endParaRPr lang="en-US" sz="2000" dirty="0"/>
          </a:p>
        </p:txBody>
      </p:sp>
      <p:sp>
        <p:nvSpPr>
          <p:cNvPr id="10" name="Text 8"/>
          <p:cNvSpPr/>
          <p:nvPr/>
        </p:nvSpPr>
        <p:spPr>
          <a:xfrm>
            <a:off x="2468880" y="1508760"/>
            <a:ext cx="1645920" cy="274320"/>
          </a:xfrm>
          <a:prstGeom prst="rect">
            <a:avLst/>
          </a:prstGeom>
          <a:noFill/>
          <a:ln/>
        </p:spPr>
        <p:txBody>
          <a:bodyPr wrap="square" rtlCol="0" anchor="ctr"/>
          <a:lstStyle/>
          <a:p>
            <a:pPr marL="0" indent="0" algn="ctr">
              <a:buNone/>
            </a:pPr>
            <a:r>
              <a:rPr lang="en-US" sz="1000" dirty="0">
                <a:solidFill>
                  <a:srgbClr val="8899BB"/>
                </a:solidFill>
                <a:latin typeface="Calibri" pitchFamily="34" charset="0"/>
                <a:ea typeface="Calibri" pitchFamily="34" charset="-122"/>
                <a:cs typeface="Calibri" pitchFamily="34" charset="-120"/>
              </a:rPr>
              <a:t>Columns</a:t>
            </a:r>
            <a:endParaRPr lang="en-US" sz="1000" dirty="0"/>
          </a:p>
        </p:txBody>
      </p:sp>
      <p:sp>
        <p:nvSpPr>
          <p:cNvPr id="11" name="Shape 9"/>
          <p:cNvSpPr/>
          <p:nvPr/>
        </p:nvSpPr>
        <p:spPr>
          <a:xfrm>
            <a:off x="365760" y="2011680"/>
            <a:ext cx="1828800" cy="82296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2" name="Text 10"/>
          <p:cNvSpPr/>
          <p:nvPr/>
        </p:nvSpPr>
        <p:spPr>
          <a:xfrm>
            <a:off x="457200" y="2057400"/>
            <a:ext cx="1645920" cy="411480"/>
          </a:xfrm>
          <a:prstGeom prst="rect">
            <a:avLst/>
          </a:prstGeom>
          <a:noFill/>
          <a:ln/>
        </p:spPr>
        <p:txBody>
          <a:bodyPr wrap="square" rtlCol="0" anchor="ctr"/>
          <a:lstStyle/>
          <a:p>
            <a:pPr marL="0" indent="0" algn="ctr">
              <a:buNone/>
            </a:pPr>
            <a:r>
              <a:rPr lang="en-US" sz="2000" b="1" dirty="0">
                <a:solidFill>
                  <a:srgbClr val="2ECC71"/>
                </a:solidFill>
                <a:latin typeface="Calibri" pitchFamily="34" charset="0"/>
                <a:ea typeface="Calibri" pitchFamily="34" charset="-122"/>
                <a:cs typeface="Calibri" pitchFamily="34" charset="-120"/>
              </a:rPr>
              <a:t>4 Years</a:t>
            </a:r>
            <a:endParaRPr lang="en-US" sz="2000" dirty="0"/>
          </a:p>
        </p:txBody>
      </p:sp>
      <p:sp>
        <p:nvSpPr>
          <p:cNvPr id="13" name="Text 11"/>
          <p:cNvSpPr/>
          <p:nvPr/>
        </p:nvSpPr>
        <p:spPr>
          <a:xfrm>
            <a:off x="457200" y="2468880"/>
            <a:ext cx="1645920" cy="274320"/>
          </a:xfrm>
          <a:prstGeom prst="rect">
            <a:avLst/>
          </a:prstGeom>
          <a:noFill/>
          <a:ln/>
        </p:spPr>
        <p:txBody>
          <a:bodyPr wrap="square" rtlCol="0" anchor="ctr"/>
          <a:lstStyle/>
          <a:p>
            <a:pPr marL="0" indent="0" algn="ctr">
              <a:buNone/>
            </a:pPr>
            <a:r>
              <a:rPr lang="en-US" sz="1000" dirty="0">
                <a:solidFill>
                  <a:srgbClr val="8899BB"/>
                </a:solidFill>
                <a:latin typeface="Calibri" pitchFamily="34" charset="0"/>
                <a:ea typeface="Calibri" pitchFamily="34" charset="-122"/>
                <a:cs typeface="Calibri" pitchFamily="34" charset="-120"/>
              </a:rPr>
              <a:t>Date Span</a:t>
            </a:r>
            <a:endParaRPr lang="en-US" sz="1000" dirty="0"/>
          </a:p>
        </p:txBody>
      </p:sp>
      <p:sp>
        <p:nvSpPr>
          <p:cNvPr id="14" name="Shape 12"/>
          <p:cNvSpPr/>
          <p:nvPr/>
        </p:nvSpPr>
        <p:spPr>
          <a:xfrm>
            <a:off x="2377440" y="2011680"/>
            <a:ext cx="1828800" cy="82296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5" name="Text 13"/>
          <p:cNvSpPr/>
          <p:nvPr/>
        </p:nvSpPr>
        <p:spPr>
          <a:xfrm>
            <a:off x="2468880" y="2057400"/>
            <a:ext cx="1645920" cy="411480"/>
          </a:xfrm>
          <a:prstGeom prst="rect">
            <a:avLst/>
          </a:prstGeom>
          <a:noFill/>
          <a:ln/>
        </p:spPr>
        <p:txBody>
          <a:bodyPr wrap="square" rtlCol="0" anchor="ctr"/>
          <a:lstStyle/>
          <a:p>
            <a:pPr marL="0" indent="0" algn="ctr">
              <a:buNone/>
            </a:pPr>
            <a:r>
              <a:rPr lang="en-US" sz="2000" b="1" dirty="0">
                <a:solidFill>
                  <a:srgbClr val="4A9EFF"/>
                </a:solidFill>
                <a:latin typeface="Calibri" pitchFamily="34" charset="0"/>
                <a:ea typeface="Calibri" pitchFamily="34" charset="-122"/>
                <a:cs typeface="Calibri" pitchFamily="34" charset="-120"/>
              </a:rPr>
              <a:t>$2.29M</a:t>
            </a:r>
            <a:endParaRPr lang="en-US" sz="2000" dirty="0"/>
          </a:p>
        </p:txBody>
      </p:sp>
      <p:sp>
        <p:nvSpPr>
          <p:cNvPr id="16" name="Text 14"/>
          <p:cNvSpPr/>
          <p:nvPr/>
        </p:nvSpPr>
        <p:spPr>
          <a:xfrm>
            <a:off x="2468880" y="2468880"/>
            <a:ext cx="1645920" cy="274320"/>
          </a:xfrm>
          <a:prstGeom prst="rect">
            <a:avLst/>
          </a:prstGeom>
          <a:noFill/>
          <a:ln/>
        </p:spPr>
        <p:txBody>
          <a:bodyPr wrap="square" rtlCol="0" anchor="ctr"/>
          <a:lstStyle/>
          <a:p>
            <a:pPr marL="0" indent="0" algn="ctr">
              <a:buNone/>
            </a:pPr>
            <a:r>
              <a:rPr lang="en-US" sz="1000" dirty="0">
                <a:solidFill>
                  <a:srgbClr val="8899BB"/>
                </a:solidFill>
                <a:latin typeface="Calibri" pitchFamily="34" charset="0"/>
                <a:ea typeface="Calibri" pitchFamily="34" charset="-122"/>
                <a:cs typeface="Calibri" pitchFamily="34" charset="-120"/>
              </a:rPr>
              <a:t>Total Revenue</a:t>
            </a:r>
            <a:endParaRPr lang="en-US" sz="1000" dirty="0"/>
          </a:p>
        </p:txBody>
      </p:sp>
      <p:sp>
        <p:nvSpPr>
          <p:cNvPr id="17" name="Shape 15"/>
          <p:cNvSpPr/>
          <p:nvPr/>
        </p:nvSpPr>
        <p:spPr>
          <a:xfrm>
            <a:off x="365760" y="2971800"/>
            <a:ext cx="1828800" cy="82296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8" name="Text 16"/>
          <p:cNvSpPr/>
          <p:nvPr/>
        </p:nvSpPr>
        <p:spPr>
          <a:xfrm>
            <a:off x="457200" y="3017520"/>
            <a:ext cx="1645920" cy="411480"/>
          </a:xfrm>
          <a:prstGeom prst="rect">
            <a:avLst/>
          </a:prstGeom>
          <a:noFill/>
          <a:ln/>
        </p:spPr>
        <p:txBody>
          <a:bodyPr wrap="square" rtlCol="0" anchor="ctr"/>
          <a:lstStyle/>
          <a:p>
            <a:pPr marL="0" indent="0" algn="ctr">
              <a:buNone/>
            </a:pPr>
            <a:r>
              <a:rPr lang="en-US" sz="2000" b="1" dirty="0">
                <a:solidFill>
                  <a:srgbClr val="F47B20"/>
                </a:solidFill>
                <a:latin typeface="Calibri" pitchFamily="34" charset="0"/>
                <a:ea typeface="Calibri" pitchFamily="34" charset="-122"/>
                <a:cs typeface="Calibri" pitchFamily="34" charset="-120"/>
              </a:rPr>
              <a:t>5,009</a:t>
            </a:r>
            <a:endParaRPr lang="en-US" sz="2000" dirty="0"/>
          </a:p>
        </p:txBody>
      </p:sp>
      <p:sp>
        <p:nvSpPr>
          <p:cNvPr id="19" name="Text 17"/>
          <p:cNvSpPr/>
          <p:nvPr/>
        </p:nvSpPr>
        <p:spPr>
          <a:xfrm>
            <a:off x="457200" y="3429000"/>
            <a:ext cx="1645920" cy="274320"/>
          </a:xfrm>
          <a:prstGeom prst="rect">
            <a:avLst/>
          </a:prstGeom>
          <a:noFill/>
          <a:ln/>
        </p:spPr>
        <p:txBody>
          <a:bodyPr wrap="square" rtlCol="0" anchor="ctr"/>
          <a:lstStyle/>
          <a:p>
            <a:pPr marL="0" indent="0" algn="ctr">
              <a:buNone/>
            </a:pPr>
            <a:r>
              <a:rPr lang="en-US" sz="1000" dirty="0">
                <a:solidFill>
                  <a:srgbClr val="8899BB"/>
                </a:solidFill>
                <a:latin typeface="Calibri" pitchFamily="34" charset="0"/>
                <a:ea typeface="Calibri" pitchFamily="34" charset="-122"/>
                <a:cs typeface="Calibri" pitchFamily="34" charset="-120"/>
              </a:rPr>
              <a:t>Unique Orders</a:t>
            </a:r>
            <a:endParaRPr lang="en-US" sz="1000" dirty="0"/>
          </a:p>
        </p:txBody>
      </p:sp>
      <p:sp>
        <p:nvSpPr>
          <p:cNvPr id="20" name="Shape 18"/>
          <p:cNvSpPr/>
          <p:nvPr/>
        </p:nvSpPr>
        <p:spPr>
          <a:xfrm>
            <a:off x="2377440" y="2971800"/>
            <a:ext cx="1828800" cy="82296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21" name="Text 19"/>
          <p:cNvSpPr/>
          <p:nvPr/>
        </p:nvSpPr>
        <p:spPr>
          <a:xfrm>
            <a:off x="2468880" y="3017520"/>
            <a:ext cx="1645920" cy="411480"/>
          </a:xfrm>
          <a:prstGeom prst="rect">
            <a:avLst/>
          </a:prstGeom>
          <a:noFill/>
          <a:ln/>
        </p:spPr>
        <p:txBody>
          <a:bodyPr wrap="square" rtlCol="0" anchor="ctr"/>
          <a:lstStyle/>
          <a:p>
            <a:pPr marL="0" indent="0" algn="ctr">
              <a:buNone/>
            </a:pPr>
            <a:r>
              <a:rPr lang="en-US" sz="2000" b="1" dirty="0">
                <a:solidFill>
                  <a:srgbClr val="2ECC71"/>
                </a:solidFill>
                <a:latin typeface="Calibri" pitchFamily="34" charset="0"/>
                <a:ea typeface="Calibri" pitchFamily="34" charset="-122"/>
                <a:cs typeface="Calibri" pitchFamily="34" charset="-120"/>
              </a:rPr>
              <a:t>0</a:t>
            </a:r>
            <a:endParaRPr lang="en-US" sz="2000" dirty="0"/>
          </a:p>
        </p:txBody>
      </p:sp>
      <p:sp>
        <p:nvSpPr>
          <p:cNvPr id="22" name="Text 20"/>
          <p:cNvSpPr/>
          <p:nvPr/>
        </p:nvSpPr>
        <p:spPr>
          <a:xfrm>
            <a:off x="2468880" y="3429000"/>
            <a:ext cx="1645920" cy="274320"/>
          </a:xfrm>
          <a:prstGeom prst="rect">
            <a:avLst/>
          </a:prstGeom>
          <a:noFill/>
          <a:ln/>
        </p:spPr>
        <p:txBody>
          <a:bodyPr wrap="square" rtlCol="0" anchor="ctr"/>
          <a:lstStyle/>
          <a:p>
            <a:pPr marL="0" indent="0" algn="ctr">
              <a:buNone/>
            </a:pPr>
            <a:r>
              <a:rPr lang="en-US" sz="1000" dirty="0">
                <a:solidFill>
                  <a:srgbClr val="8899BB"/>
                </a:solidFill>
                <a:latin typeface="Calibri" pitchFamily="34" charset="0"/>
                <a:ea typeface="Calibri" pitchFamily="34" charset="-122"/>
                <a:cs typeface="Calibri" pitchFamily="34" charset="-120"/>
              </a:rPr>
              <a:t>Missing Values  ✓</a:t>
            </a:r>
            <a:endParaRPr lang="en-US" sz="1000" dirty="0"/>
          </a:p>
        </p:txBody>
      </p:sp>
      <p:sp>
        <p:nvSpPr>
          <p:cNvPr id="23" name="Shape 21"/>
          <p:cNvSpPr/>
          <p:nvPr/>
        </p:nvSpPr>
        <p:spPr>
          <a:xfrm>
            <a:off x="365760" y="3977640"/>
            <a:ext cx="3840480" cy="914400"/>
          </a:xfrm>
          <a:prstGeom prst="rect">
            <a:avLst/>
          </a:prstGeom>
          <a:solidFill>
            <a:srgbClr val="162033"/>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24" name="Text 22"/>
          <p:cNvSpPr/>
          <p:nvPr/>
        </p:nvSpPr>
        <p:spPr>
          <a:xfrm>
            <a:off x="548640" y="4041648"/>
            <a:ext cx="3474720" cy="256032"/>
          </a:xfrm>
          <a:prstGeom prst="rect">
            <a:avLst/>
          </a:prstGeom>
          <a:noFill/>
          <a:ln/>
        </p:spPr>
        <p:txBody>
          <a:bodyPr wrap="square" rtlCol="0" anchor="ctr"/>
          <a:lstStyle/>
          <a:p>
            <a:pPr marL="0" indent="0">
              <a:buNone/>
            </a:pPr>
            <a:r>
              <a:rPr lang="en-US" sz="1200" b="1" dirty="0">
                <a:solidFill>
                  <a:srgbClr val="2ECC71"/>
                </a:solidFill>
                <a:latin typeface="Calibri" pitchFamily="34" charset="0"/>
                <a:ea typeface="Calibri" pitchFamily="34" charset="-122"/>
                <a:cs typeface="Calibri" pitchFamily="34" charset="-120"/>
              </a:rPr>
              <a:t>Key Insights</a:t>
            </a:r>
            <a:endParaRPr lang="en-US" sz="1200" dirty="0"/>
          </a:p>
        </p:txBody>
      </p:sp>
      <p:sp>
        <p:nvSpPr>
          <p:cNvPr id="25" name="Text 23"/>
          <p:cNvSpPr/>
          <p:nvPr/>
        </p:nvSpPr>
        <p:spPr>
          <a:xfrm>
            <a:off x="548640" y="4297680"/>
            <a:ext cx="3474720" cy="548640"/>
          </a:xfrm>
          <a:prstGeom prst="rect">
            <a:avLst/>
          </a:prstGeom>
          <a:noFill/>
          <a:ln/>
        </p:spPr>
        <p:txBody>
          <a:bodyPr wrap="square" rtlCol="0" anchor="ctr"/>
          <a:lstStyle/>
          <a:p>
            <a:pPr marL="0" indent="0">
              <a:buNone/>
            </a:pPr>
            <a:r>
              <a:rPr lang="en-US" sz="1000" dirty="0">
                <a:solidFill>
                  <a:srgbClr val="C8D8F0"/>
                </a:solidFill>
                <a:latin typeface="Calibri" pitchFamily="34" charset="0"/>
                <a:ea typeface="Calibri" pitchFamily="34" charset="-122"/>
                <a:cs typeface="Calibri" pitchFamily="34" charset="-120"/>
              </a:rPr>
              <a:t>• Strong Q4 seasonality every year</a:t>
            </a:r>
            <a:endParaRPr lang="en-US" sz="1000" dirty="0"/>
          </a:p>
          <a:p>
            <a:pPr marL="0" indent="0">
              <a:buNone/>
            </a:pPr>
            <a:r>
              <a:rPr lang="en-US" sz="1000" dirty="0">
                <a:solidFill>
                  <a:srgbClr val="C8D8F0"/>
                </a:solidFill>
                <a:latin typeface="Calibri" pitchFamily="34" charset="0"/>
                <a:ea typeface="Calibri" pitchFamily="34" charset="-122"/>
                <a:cs typeface="Calibri" pitchFamily="34" charset="-120"/>
              </a:rPr>
              <a:t>• Consistent year-on-year revenue growth</a:t>
            </a:r>
            <a:endParaRPr lang="en-US" sz="1000" dirty="0"/>
          </a:p>
          <a:p>
            <a:pPr marL="0" indent="0">
              <a:buNone/>
            </a:pPr>
            <a:r>
              <a:rPr lang="en-US" sz="1000" dirty="0">
                <a:solidFill>
                  <a:srgbClr val="C8D8F0"/>
                </a:solidFill>
                <a:latin typeface="Calibri" pitchFamily="34" charset="0"/>
                <a:ea typeface="Calibri" pitchFamily="34" charset="-122"/>
                <a:cs typeface="Calibri" pitchFamily="34" charset="-120"/>
              </a:rPr>
              <a:t>• Technology leads all categories at $836K</a:t>
            </a:r>
            <a:endParaRPr lang="en-US" sz="1000" dirty="0"/>
          </a:p>
        </p:txBody>
      </p:sp>
      <p:pic>
        <p:nvPicPr>
          <p:cNvPr id="26" name="Image 0" descr="preencoded.png"/>
          <p:cNvPicPr>
            <a:picLocks noChangeAspect="1"/>
          </p:cNvPicPr>
          <p:nvPr/>
        </p:nvPicPr>
        <p:blipFill>
          <a:blip r:embed="rId3"/>
          <a:srcRect/>
          <a:stretch/>
        </p:blipFill>
        <p:spPr>
          <a:xfrm>
            <a:off x="4434840" y="1005840"/>
            <a:ext cx="4572000" cy="2926080"/>
          </a:xfrm>
          <a:prstGeom prst="rect">
            <a:avLst/>
          </a:prstGeom>
        </p:spPr>
      </p:pic>
      <p:sp>
        <p:nvSpPr>
          <p:cNvPr id="27" name="Text 24"/>
          <p:cNvSpPr/>
          <p:nvPr/>
        </p:nvSpPr>
        <p:spPr>
          <a:xfrm>
            <a:off x="4434840" y="3931920"/>
            <a:ext cx="4572000" cy="228600"/>
          </a:xfrm>
          <a:prstGeom prst="rect">
            <a:avLst/>
          </a:prstGeom>
          <a:noFill/>
          <a:ln/>
        </p:spPr>
        <p:txBody>
          <a:bodyPr wrap="square" rtlCol="0" anchor="ctr"/>
          <a:lstStyle/>
          <a:p>
            <a:pPr marL="0" indent="0" algn="ctr">
              <a:buNone/>
            </a:pPr>
            <a:r>
              <a:rPr lang="en-US" sz="900" dirty="0">
                <a:solidFill>
                  <a:srgbClr val="8899BB"/>
                </a:solidFill>
                <a:latin typeface="Calibri" pitchFamily="34" charset="0"/>
                <a:ea typeface="Calibri" pitchFamily="34" charset="-122"/>
                <a:cs typeface="Calibri" pitchFamily="34" charset="-120"/>
              </a:rPr>
              <a:t>Figure: Monthly Sales Trend &amp; KPI Dashboard (2014–2017)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9EFF"/>
          </a:solidFill>
          <a:ln w="12700">
            <a:solidFill>
              <a:srgbClr val="4A9EFF"/>
            </a:solidFill>
            <a:prstDash val="solid"/>
          </a:ln>
        </p:spPr>
        <p:txBody>
          <a:bodyPr/>
          <a:lstStyle/>
          <a:p>
            <a:endParaRPr lang="en-US"/>
          </a:p>
        </p:txBody>
      </p:sp>
      <p:sp>
        <p:nvSpPr>
          <p:cNvPr id="3" name="Text 1"/>
          <p:cNvSpPr/>
          <p:nvPr/>
        </p:nvSpPr>
        <p:spPr>
          <a:xfrm>
            <a:off x="457200" y="164592"/>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AI Models — Forecasting Engine</a:t>
            </a:r>
            <a:endParaRPr lang="en-US" sz="28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marL="0" indent="0">
              <a:buNone/>
            </a:pPr>
            <a:r>
              <a:rPr lang="en-US" sz="1300" dirty="0">
                <a:solidFill>
                  <a:srgbClr val="8899BB"/>
                </a:solidFill>
                <a:latin typeface="Calibri" pitchFamily="34" charset="0"/>
                <a:ea typeface="Calibri" pitchFamily="34" charset="-122"/>
                <a:cs typeface="Calibri" pitchFamily="34" charset="-120"/>
              </a:rPr>
              <a:t>Two models trained and compared for best accuracy</a:t>
            </a:r>
            <a:endParaRPr lang="en-US" sz="1300" dirty="0"/>
          </a:p>
        </p:txBody>
      </p:sp>
      <p:sp>
        <p:nvSpPr>
          <p:cNvPr id="5" name="Shape 3"/>
          <p:cNvSpPr/>
          <p:nvPr/>
        </p:nvSpPr>
        <p:spPr>
          <a:xfrm>
            <a:off x="365760" y="1051560"/>
            <a:ext cx="3931920" cy="292608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6" name="Shape 4"/>
          <p:cNvSpPr/>
          <p:nvPr/>
        </p:nvSpPr>
        <p:spPr>
          <a:xfrm>
            <a:off x="365760" y="1051560"/>
            <a:ext cx="3931920" cy="64008"/>
          </a:xfrm>
          <a:prstGeom prst="rect">
            <a:avLst/>
          </a:prstGeom>
          <a:solidFill>
            <a:srgbClr val="8899BB"/>
          </a:solidFill>
          <a:ln w="12700">
            <a:solidFill>
              <a:srgbClr val="8899BB"/>
            </a:solidFill>
            <a:prstDash val="solid"/>
          </a:ln>
        </p:spPr>
        <p:txBody>
          <a:bodyPr/>
          <a:lstStyle/>
          <a:p>
            <a:endParaRPr lang="en-US"/>
          </a:p>
        </p:txBody>
      </p:sp>
      <p:sp>
        <p:nvSpPr>
          <p:cNvPr id="7" name="Text 5"/>
          <p:cNvSpPr/>
          <p:nvPr/>
        </p:nvSpPr>
        <p:spPr>
          <a:xfrm>
            <a:off x="502920" y="1188720"/>
            <a:ext cx="3657600" cy="320040"/>
          </a:xfrm>
          <a:prstGeom prst="rect">
            <a:avLst/>
          </a:prstGeom>
          <a:noFill/>
          <a:ln/>
        </p:spPr>
        <p:txBody>
          <a:bodyPr wrap="square" rtlCol="0" anchor="ctr"/>
          <a:lstStyle/>
          <a:p>
            <a:pPr marL="0" indent="0">
              <a:buNone/>
            </a:pPr>
            <a:r>
              <a:rPr lang="en-US" sz="1400" b="1" dirty="0">
                <a:solidFill>
                  <a:srgbClr val="C8D8F0"/>
                </a:solidFill>
                <a:latin typeface="Calibri" pitchFamily="34" charset="0"/>
                <a:ea typeface="Calibri" pitchFamily="34" charset="-122"/>
                <a:cs typeface="Calibri" pitchFamily="34" charset="-120"/>
              </a:rPr>
              <a:t>MODEL 1 — ARIMA (2,1,1)</a:t>
            </a:r>
            <a:endParaRPr lang="en-US" sz="1400" dirty="0"/>
          </a:p>
        </p:txBody>
      </p:sp>
      <p:sp>
        <p:nvSpPr>
          <p:cNvPr id="8" name="Text 6"/>
          <p:cNvSpPr/>
          <p:nvPr/>
        </p:nvSpPr>
        <p:spPr>
          <a:xfrm>
            <a:off x="502920" y="1481328"/>
            <a:ext cx="3657600" cy="256032"/>
          </a:xfrm>
          <a:prstGeom prst="rect">
            <a:avLst/>
          </a:prstGeom>
          <a:noFill/>
          <a:ln/>
        </p:spPr>
        <p:txBody>
          <a:bodyPr wrap="square" rtlCol="0" anchor="ctr"/>
          <a:lstStyle/>
          <a:p>
            <a:pPr marL="0" indent="0">
              <a:buNone/>
            </a:pPr>
            <a:r>
              <a:rPr lang="en-US" sz="1100" dirty="0">
                <a:solidFill>
                  <a:srgbClr val="8899BB"/>
                </a:solidFill>
                <a:latin typeface="Calibri" pitchFamily="34" charset="0"/>
                <a:ea typeface="Calibri" pitchFamily="34" charset="-122"/>
                <a:cs typeface="Calibri" pitchFamily="34" charset="-120"/>
              </a:rPr>
              <a:t>Statistical Time Series Baseline</a:t>
            </a:r>
            <a:endParaRPr lang="en-US" sz="1100" dirty="0"/>
          </a:p>
        </p:txBody>
      </p:sp>
      <p:sp>
        <p:nvSpPr>
          <p:cNvPr id="9" name="Text 7"/>
          <p:cNvSpPr/>
          <p:nvPr/>
        </p:nvSpPr>
        <p:spPr>
          <a:xfrm>
            <a:off x="502920" y="1874520"/>
            <a:ext cx="1371600" cy="32004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MAE</a:t>
            </a:r>
            <a:endParaRPr lang="en-US" sz="1200" dirty="0"/>
          </a:p>
        </p:txBody>
      </p:sp>
      <p:sp>
        <p:nvSpPr>
          <p:cNvPr id="10" name="Text 8"/>
          <p:cNvSpPr/>
          <p:nvPr/>
        </p:nvSpPr>
        <p:spPr>
          <a:xfrm>
            <a:off x="2011680" y="1874520"/>
            <a:ext cx="2011680" cy="320040"/>
          </a:xfrm>
          <a:prstGeom prst="rect">
            <a:avLst/>
          </a:prstGeom>
          <a:noFill/>
          <a:ln/>
        </p:spPr>
        <p:txBody>
          <a:bodyPr wrap="square" rtlCol="0" anchor="ctr"/>
          <a:lstStyle/>
          <a:p>
            <a:pPr marL="0" indent="0">
              <a:buNone/>
            </a:pPr>
            <a:r>
              <a:rPr lang="en-US" sz="1400" b="1" dirty="0">
                <a:solidFill>
                  <a:srgbClr val="C8D8F0"/>
                </a:solidFill>
                <a:latin typeface="Calibri" pitchFamily="34" charset="0"/>
                <a:ea typeface="Calibri" pitchFamily="34" charset="-122"/>
                <a:cs typeface="Calibri" pitchFamily="34" charset="-120"/>
              </a:rPr>
              <a:t>$19,893</a:t>
            </a:r>
            <a:endParaRPr lang="en-US" sz="1400" dirty="0"/>
          </a:p>
        </p:txBody>
      </p:sp>
      <p:sp>
        <p:nvSpPr>
          <p:cNvPr id="11" name="Text 9"/>
          <p:cNvSpPr/>
          <p:nvPr/>
        </p:nvSpPr>
        <p:spPr>
          <a:xfrm>
            <a:off x="502920" y="2331720"/>
            <a:ext cx="1371600" cy="32004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RMSE</a:t>
            </a:r>
            <a:endParaRPr lang="en-US" sz="1200" dirty="0"/>
          </a:p>
        </p:txBody>
      </p:sp>
      <p:sp>
        <p:nvSpPr>
          <p:cNvPr id="12" name="Text 10"/>
          <p:cNvSpPr/>
          <p:nvPr/>
        </p:nvSpPr>
        <p:spPr>
          <a:xfrm>
            <a:off x="2011680" y="2331720"/>
            <a:ext cx="2011680" cy="320040"/>
          </a:xfrm>
          <a:prstGeom prst="rect">
            <a:avLst/>
          </a:prstGeom>
          <a:noFill/>
          <a:ln/>
        </p:spPr>
        <p:txBody>
          <a:bodyPr wrap="square" rtlCol="0" anchor="ctr"/>
          <a:lstStyle/>
          <a:p>
            <a:pPr marL="0" indent="0">
              <a:buNone/>
            </a:pPr>
            <a:r>
              <a:rPr lang="en-US" sz="1400" b="1" dirty="0">
                <a:solidFill>
                  <a:srgbClr val="C8D8F0"/>
                </a:solidFill>
                <a:latin typeface="Calibri" pitchFamily="34" charset="0"/>
                <a:ea typeface="Calibri" pitchFamily="34" charset="-122"/>
                <a:cs typeface="Calibri" pitchFamily="34" charset="-120"/>
              </a:rPr>
              <a:t>$26,746</a:t>
            </a:r>
            <a:endParaRPr lang="en-US" sz="1400" dirty="0"/>
          </a:p>
        </p:txBody>
      </p:sp>
      <p:sp>
        <p:nvSpPr>
          <p:cNvPr id="13" name="Text 11"/>
          <p:cNvSpPr/>
          <p:nvPr/>
        </p:nvSpPr>
        <p:spPr>
          <a:xfrm>
            <a:off x="502920" y="2788920"/>
            <a:ext cx="1371600" cy="32004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MAPE</a:t>
            </a:r>
            <a:endParaRPr lang="en-US" sz="1200" dirty="0"/>
          </a:p>
        </p:txBody>
      </p:sp>
      <p:sp>
        <p:nvSpPr>
          <p:cNvPr id="14" name="Text 12"/>
          <p:cNvSpPr/>
          <p:nvPr/>
        </p:nvSpPr>
        <p:spPr>
          <a:xfrm>
            <a:off x="2011680" y="2788920"/>
            <a:ext cx="2011680" cy="320040"/>
          </a:xfrm>
          <a:prstGeom prst="rect">
            <a:avLst/>
          </a:prstGeom>
          <a:noFill/>
          <a:ln/>
        </p:spPr>
        <p:txBody>
          <a:bodyPr wrap="square" rtlCol="0" anchor="ctr"/>
          <a:lstStyle/>
          <a:p>
            <a:pPr marL="0" indent="0">
              <a:buNone/>
            </a:pPr>
            <a:r>
              <a:rPr lang="en-US" sz="1400" b="1" dirty="0">
                <a:solidFill>
                  <a:srgbClr val="C8D8F0"/>
                </a:solidFill>
                <a:latin typeface="Calibri" pitchFamily="34" charset="0"/>
                <a:ea typeface="Calibri" pitchFamily="34" charset="-122"/>
                <a:cs typeface="Calibri" pitchFamily="34" charset="-120"/>
              </a:rPr>
              <a:t>25.68%</a:t>
            </a:r>
            <a:endParaRPr lang="en-US" sz="1400" dirty="0"/>
          </a:p>
        </p:txBody>
      </p:sp>
      <p:sp>
        <p:nvSpPr>
          <p:cNvPr id="15" name="Text 13"/>
          <p:cNvSpPr/>
          <p:nvPr/>
        </p:nvSpPr>
        <p:spPr>
          <a:xfrm>
            <a:off x="502920" y="3246120"/>
            <a:ext cx="1371600" cy="32004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R²</a:t>
            </a:r>
            <a:endParaRPr lang="en-US" sz="1200" dirty="0"/>
          </a:p>
        </p:txBody>
      </p:sp>
      <p:sp>
        <p:nvSpPr>
          <p:cNvPr id="16" name="Text 14"/>
          <p:cNvSpPr/>
          <p:nvPr/>
        </p:nvSpPr>
        <p:spPr>
          <a:xfrm>
            <a:off x="2011680" y="3246120"/>
            <a:ext cx="2011680" cy="320040"/>
          </a:xfrm>
          <a:prstGeom prst="rect">
            <a:avLst/>
          </a:prstGeom>
          <a:noFill/>
          <a:ln/>
        </p:spPr>
        <p:txBody>
          <a:bodyPr wrap="square" rtlCol="0" anchor="ctr"/>
          <a:lstStyle/>
          <a:p>
            <a:pPr marL="0" indent="0">
              <a:buNone/>
            </a:pPr>
            <a:r>
              <a:rPr lang="en-US" sz="1400" b="1" dirty="0">
                <a:solidFill>
                  <a:srgbClr val="C8D8F0"/>
                </a:solidFill>
                <a:latin typeface="Calibri" pitchFamily="34" charset="0"/>
                <a:ea typeface="Calibri" pitchFamily="34" charset="-122"/>
                <a:cs typeface="Calibri" pitchFamily="34" charset="-120"/>
              </a:rPr>
              <a:t>N/A</a:t>
            </a:r>
            <a:endParaRPr lang="en-US" sz="1400" dirty="0"/>
          </a:p>
        </p:txBody>
      </p:sp>
      <p:sp>
        <p:nvSpPr>
          <p:cNvPr id="17" name="Shape 15"/>
          <p:cNvSpPr/>
          <p:nvPr/>
        </p:nvSpPr>
        <p:spPr>
          <a:xfrm>
            <a:off x="4663440" y="1051560"/>
            <a:ext cx="4114800" cy="292608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8" name="Shape 16"/>
          <p:cNvSpPr/>
          <p:nvPr/>
        </p:nvSpPr>
        <p:spPr>
          <a:xfrm>
            <a:off x="4663440" y="1051560"/>
            <a:ext cx="4114800" cy="64008"/>
          </a:xfrm>
          <a:prstGeom prst="rect">
            <a:avLst/>
          </a:prstGeom>
          <a:solidFill>
            <a:srgbClr val="2ECC71"/>
          </a:solidFill>
          <a:ln w="12700">
            <a:solidFill>
              <a:srgbClr val="2ECC71"/>
            </a:solidFill>
            <a:prstDash val="solid"/>
          </a:ln>
        </p:spPr>
        <p:txBody>
          <a:bodyPr/>
          <a:lstStyle/>
          <a:p>
            <a:endParaRPr lang="en-US"/>
          </a:p>
        </p:txBody>
      </p:sp>
      <p:sp>
        <p:nvSpPr>
          <p:cNvPr id="19" name="Text 17"/>
          <p:cNvSpPr/>
          <p:nvPr/>
        </p:nvSpPr>
        <p:spPr>
          <a:xfrm>
            <a:off x="4800600" y="1188720"/>
            <a:ext cx="3840480" cy="320040"/>
          </a:xfrm>
          <a:prstGeom prst="rect">
            <a:avLst/>
          </a:prstGeom>
          <a:noFill/>
          <a:ln/>
        </p:spPr>
        <p:txBody>
          <a:bodyPr wrap="square" rtlCol="0" anchor="ctr"/>
          <a:lstStyle/>
          <a:p>
            <a:pPr marL="0" indent="0">
              <a:buNone/>
            </a:pPr>
            <a:r>
              <a:rPr lang="en-US" sz="1400" b="1" dirty="0">
                <a:solidFill>
                  <a:srgbClr val="2ECC71"/>
                </a:solidFill>
                <a:latin typeface="Calibri" pitchFamily="34" charset="0"/>
                <a:ea typeface="Calibri" pitchFamily="34" charset="-122"/>
                <a:cs typeface="Calibri" pitchFamily="34" charset="-120"/>
              </a:rPr>
              <a:t>MODEL 2 — Gradient Boosting  🏆</a:t>
            </a:r>
            <a:endParaRPr lang="en-US" sz="1400" dirty="0"/>
          </a:p>
        </p:txBody>
      </p:sp>
      <p:sp>
        <p:nvSpPr>
          <p:cNvPr id="20" name="Text 18"/>
          <p:cNvSpPr/>
          <p:nvPr/>
        </p:nvSpPr>
        <p:spPr>
          <a:xfrm>
            <a:off x="4800600" y="1481328"/>
            <a:ext cx="3840480" cy="256032"/>
          </a:xfrm>
          <a:prstGeom prst="rect">
            <a:avLst/>
          </a:prstGeom>
          <a:noFill/>
          <a:ln/>
        </p:spPr>
        <p:txBody>
          <a:bodyPr wrap="square" rtlCol="0" anchor="ctr"/>
          <a:lstStyle/>
          <a:p>
            <a:pPr marL="0" indent="0">
              <a:buNone/>
            </a:pPr>
            <a:r>
              <a:rPr lang="en-US" sz="1100" dirty="0">
                <a:solidFill>
                  <a:srgbClr val="8899BB"/>
                </a:solidFill>
                <a:latin typeface="Calibri" pitchFamily="34" charset="0"/>
                <a:ea typeface="Calibri" pitchFamily="34" charset="-122"/>
                <a:cs typeface="Calibri" pitchFamily="34" charset="-120"/>
              </a:rPr>
              <a:t>200 estimators · LR 0.05 · Max depth 3</a:t>
            </a:r>
            <a:endParaRPr lang="en-US" sz="1100" dirty="0"/>
          </a:p>
        </p:txBody>
      </p:sp>
      <p:sp>
        <p:nvSpPr>
          <p:cNvPr id="21" name="Text 19"/>
          <p:cNvSpPr/>
          <p:nvPr/>
        </p:nvSpPr>
        <p:spPr>
          <a:xfrm>
            <a:off x="4800600" y="1874520"/>
            <a:ext cx="1371600" cy="32004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MAE</a:t>
            </a:r>
            <a:endParaRPr lang="en-US" sz="1200" dirty="0"/>
          </a:p>
        </p:txBody>
      </p:sp>
      <p:sp>
        <p:nvSpPr>
          <p:cNvPr id="22" name="Text 20"/>
          <p:cNvSpPr/>
          <p:nvPr/>
        </p:nvSpPr>
        <p:spPr>
          <a:xfrm>
            <a:off x="6309360" y="1874520"/>
            <a:ext cx="2286000" cy="320040"/>
          </a:xfrm>
          <a:prstGeom prst="rect">
            <a:avLst/>
          </a:prstGeom>
          <a:noFill/>
          <a:ln/>
        </p:spPr>
        <p:txBody>
          <a:bodyPr wrap="square" rtlCol="0" anchor="ctr"/>
          <a:lstStyle/>
          <a:p>
            <a:pPr marL="0" indent="0">
              <a:buNone/>
            </a:pPr>
            <a:r>
              <a:rPr lang="en-US" sz="1400" b="1" dirty="0">
                <a:solidFill>
                  <a:srgbClr val="2ECC71"/>
                </a:solidFill>
                <a:latin typeface="Calibri" pitchFamily="34" charset="0"/>
                <a:ea typeface="Calibri" pitchFamily="34" charset="-122"/>
                <a:cs typeface="Calibri" pitchFamily="34" charset="-120"/>
              </a:rPr>
              <a:t>$11,660</a:t>
            </a:r>
            <a:endParaRPr lang="en-US" sz="1400" dirty="0"/>
          </a:p>
        </p:txBody>
      </p:sp>
      <p:sp>
        <p:nvSpPr>
          <p:cNvPr id="23" name="Text 21"/>
          <p:cNvSpPr/>
          <p:nvPr/>
        </p:nvSpPr>
        <p:spPr>
          <a:xfrm>
            <a:off x="4800600" y="2331720"/>
            <a:ext cx="1371600" cy="32004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RMSE</a:t>
            </a:r>
            <a:endParaRPr lang="en-US" sz="1200" dirty="0"/>
          </a:p>
        </p:txBody>
      </p:sp>
      <p:sp>
        <p:nvSpPr>
          <p:cNvPr id="24" name="Text 22"/>
          <p:cNvSpPr/>
          <p:nvPr/>
        </p:nvSpPr>
        <p:spPr>
          <a:xfrm>
            <a:off x="6309360" y="2331720"/>
            <a:ext cx="2286000" cy="320040"/>
          </a:xfrm>
          <a:prstGeom prst="rect">
            <a:avLst/>
          </a:prstGeom>
          <a:noFill/>
          <a:ln/>
        </p:spPr>
        <p:txBody>
          <a:bodyPr wrap="square" rtlCol="0" anchor="ctr"/>
          <a:lstStyle/>
          <a:p>
            <a:pPr marL="0" indent="0">
              <a:buNone/>
            </a:pPr>
            <a:r>
              <a:rPr lang="en-US" sz="1400" b="1" dirty="0">
                <a:solidFill>
                  <a:srgbClr val="2ECC71"/>
                </a:solidFill>
                <a:latin typeface="Calibri" pitchFamily="34" charset="0"/>
                <a:ea typeface="Calibri" pitchFamily="34" charset="-122"/>
                <a:cs typeface="Calibri" pitchFamily="34" charset="-120"/>
              </a:rPr>
              <a:t>$14,825</a:t>
            </a:r>
            <a:endParaRPr lang="en-US" sz="1400" dirty="0"/>
          </a:p>
        </p:txBody>
      </p:sp>
      <p:sp>
        <p:nvSpPr>
          <p:cNvPr id="25" name="Text 23"/>
          <p:cNvSpPr/>
          <p:nvPr/>
        </p:nvSpPr>
        <p:spPr>
          <a:xfrm>
            <a:off x="4800600" y="2788920"/>
            <a:ext cx="1371600" cy="32004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MAPE</a:t>
            </a:r>
            <a:endParaRPr lang="en-US" sz="1200" dirty="0"/>
          </a:p>
        </p:txBody>
      </p:sp>
      <p:sp>
        <p:nvSpPr>
          <p:cNvPr id="26" name="Text 24"/>
          <p:cNvSpPr/>
          <p:nvPr/>
        </p:nvSpPr>
        <p:spPr>
          <a:xfrm>
            <a:off x="6309360" y="2788920"/>
            <a:ext cx="2286000" cy="320040"/>
          </a:xfrm>
          <a:prstGeom prst="rect">
            <a:avLst/>
          </a:prstGeom>
          <a:noFill/>
          <a:ln/>
        </p:spPr>
        <p:txBody>
          <a:bodyPr wrap="square" rtlCol="0" anchor="ctr"/>
          <a:lstStyle/>
          <a:p>
            <a:pPr marL="0" indent="0">
              <a:buNone/>
            </a:pPr>
            <a:r>
              <a:rPr lang="en-US" sz="1400" b="1" dirty="0">
                <a:solidFill>
                  <a:srgbClr val="2ECC71"/>
                </a:solidFill>
                <a:latin typeface="Calibri" pitchFamily="34" charset="0"/>
                <a:ea typeface="Calibri" pitchFamily="34" charset="-122"/>
                <a:cs typeface="Calibri" pitchFamily="34" charset="-120"/>
              </a:rPr>
              <a:t>19.57%</a:t>
            </a:r>
            <a:endParaRPr lang="en-US" sz="1400" dirty="0"/>
          </a:p>
        </p:txBody>
      </p:sp>
      <p:sp>
        <p:nvSpPr>
          <p:cNvPr id="27" name="Text 25"/>
          <p:cNvSpPr/>
          <p:nvPr/>
        </p:nvSpPr>
        <p:spPr>
          <a:xfrm>
            <a:off x="4800600" y="3246120"/>
            <a:ext cx="1371600" cy="32004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R²</a:t>
            </a:r>
            <a:endParaRPr lang="en-US" sz="1200" dirty="0"/>
          </a:p>
        </p:txBody>
      </p:sp>
      <p:sp>
        <p:nvSpPr>
          <p:cNvPr id="28" name="Text 26"/>
          <p:cNvSpPr/>
          <p:nvPr/>
        </p:nvSpPr>
        <p:spPr>
          <a:xfrm>
            <a:off x="6309360" y="3246120"/>
            <a:ext cx="2286000" cy="320040"/>
          </a:xfrm>
          <a:prstGeom prst="rect">
            <a:avLst/>
          </a:prstGeom>
          <a:noFill/>
          <a:ln/>
        </p:spPr>
        <p:txBody>
          <a:bodyPr wrap="square" rtlCol="0" anchor="ctr"/>
          <a:lstStyle/>
          <a:p>
            <a:pPr marL="0" indent="0">
              <a:buNone/>
            </a:pPr>
            <a:r>
              <a:rPr lang="en-US" sz="1400" b="1" dirty="0">
                <a:solidFill>
                  <a:srgbClr val="2ECC71"/>
                </a:solidFill>
                <a:latin typeface="Calibri" pitchFamily="34" charset="0"/>
                <a:ea typeface="Calibri" pitchFamily="34" charset="-122"/>
                <a:cs typeface="Calibri" pitchFamily="34" charset="-120"/>
              </a:rPr>
              <a:t>0.6472</a:t>
            </a:r>
            <a:endParaRPr lang="en-US" sz="1400" dirty="0"/>
          </a:p>
        </p:txBody>
      </p:sp>
      <p:sp>
        <p:nvSpPr>
          <p:cNvPr id="29" name="Shape 27"/>
          <p:cNvSpPr/>
          <p:nvPr/>
        </p:nvSpPr>
        <p:spPr>
          <a:xfrm>
            <a:off x="365760" y="4114800"/>
            <a:ext cx="8412480" cy="777240"/>
          </a:xfrm>
          <a:prstGeom prst="rect">
            <a:avLst/>
          </a:prstGeom>
          <a:solidFill>
            <a:srgbClr val="0D2A1A"/>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30" name="Shape 28"/>
          <p:cNvSpPr/>
          <p:nvPr/>
        </p:nvSpPr>
        <p:spPr>
          <a:xfrm>
            <a:off x="365760" y="4114800"/>
            <a:ext cx="8412480" cy="45720"/>
          </a:xfrm>
          <a:prstGeom prst="rect">
            <a:avLst/>
          </a:prstGeom>
          <a:solidFill>
            <a:srgbClr val="2ECC71"/>
          </a:solidFill>
          <a:ln w="12700">
            <a:solidFill>
              <a:srgbClr val="2ECC71"/>
            </a:solidFill>
            <a:prstDash val="solid"/>
          </a:ln>
        </p:spPr>
        <p:txBody>
          <a:bodyPr/>
          <a:lstStyle/>
          <a:p>
            <a:endParaRPr lang="en-US"/>
          </a:p>
        </p:txBody>
      </p:sp>
      <p:sp>
        <p:nvSpPr>
          <p:cNvPr id="31" name="Text 29"/>
          <p:cNvSpPr/>
          <p:nvPr/>
        </p:nvSpPr>
        <p:spPr>
          <a:xfrm>
            <a:off x="548640" y="4224528"/>
            <a:ext cx="8046720" cy="502920"/>
          </a:xfrm>
          <a:prstGeom prst="rect">
            <a:avLst/>
          </a:prstGeom>
          <a:noFill/>
          <a:ln/>
        </p:spPr>
        <p:txBody>
          <a:bodyPr wrap="square" rtlCol="0" anchor="ctr"/>
          <a:lstStyle/>
          <a:p>
            <a:pPr marL="0" indent="0" algn="ctr">
              <a:buNone/>
            </a:pPr>
            <a:r>
              <a:rPr lang="en-US" sz="1300" b="1" dirty="0">
                <a:solidFill>
                  <a:srgbClr val="2ECC71"/>
                </a:solidFill>
                <a:latin typeface="Calibri" pitchFamily="34" charset="0"/>
                <a:ea typeface="Calibri" pitchFamily="34" charset="-122"/>
                <a:cs typeface="Calibri" pitchFamily="34" charset="-120"/>
              </a:rPr>
              <a:t>🏆  Gradient Boosting wins — 40% lower MAE, 24% lower MAPE vs ARIMA  |  Selected as primary forecasting model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7B20"/>
          </a:solidFill>
          <a:ln w="12700">
            <a:solidFill>
              <a:srgbClr val="F47B20"/>
            </a:solidFill>
            <a:prstDash val="solid"/>
          </a:ln>
        </p:spPr>
        <p:txBody>
          <a:bodyPr/>
          <a:lstStyle/>
          <a:p>
            <a:endParaRPr lang="en-US"/>
          </a:p>
        </p:txBody>
      </p:sp>
      <p:sp>
        <p:nvSpPr>
          <p:cNvPr id="3" name="Text 1"/>
          <p:cNvSpPr/>
          <p:nvPr/>
        </p:nvSpPr>
        <p:spPr>
          <a:xfrm>
            <a:off x="457200" y="164592"/>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Inventory Optimization Engine</a:t>
            </a:r>
            <a:endParaRPr lang="en-US" sz="28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marL="0" indent="0">
              <a:buNone/>
            </a:pPr>
            <a:r>
              <a:rPr lang="en-US" sz="1300" dirty="0">
                <a:solidFill>
                  <a:srgbClr val="8899BB"/>
                </a:solidFill>
                <a:latin typeface="Calibri" pitchFamily="34" charset="0"/>
                <a:ea typeface="Calibri" pitchFamily="34" charset="-122"/>
                <a:cs typeface="Calibri" pitchFamily="34" charset="-120"/>
              </a:rPr>
              <a:t>Three classical supply chain formulas powering smart decisions</a:t>
            </a:r>
            <a:endParaRPr lang="en-US" sz="1300" dirty="0"/>
          </a:p>
        </p:txBody>
      </p:sp>
      <p:sp>
        <p:nvSpPr>
          <p:cNvPr id="5" name="Shape 3"/>
          <p:cNvSpPr/>
          <p:nvPr/>
        </p:nvSpPr>
        <p:spPr>
          <a:xfrm>
            <a:off x="365760" y="1051560"/>
            <a:ext cx="8412480" cy="1170432"/>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6" name="Shape 4"/>
          <p:cNvSpPr/>
          <p:nvPr/>
        </p:nvSpPr>
        <p:spPr>
          <a:xfrm>
            <a:off x="365760" y="1051560"/>
            <a:ext cx="82296" cy="1170432"/>
          </a:xfrm>
          <a:prstGeom prst="rect">
            <a:avLst/>
          </a:prstGeom>
          <a:solidFill>
            <a:srgbClr val="4A9EFF"/>
          </a:solidFill>
          <a:ln w="12700">
            <a:solidFill>
              <a:srgbClr val="4A9EFF"/>
            </a:solidFill>
            <a:prstDash val="solid"/>
          </a:ln>
        </p:spPr>
        <p:txBody>
          <a:bodyPr/>
          <a:lstStyle/>
          <a:p>
            <a:endParaRPr lang="en-US"/>
          </a:p>
        </p:txBody>
      </p:sp>
      <p:sp>
        <p:nvSpPr>
          <p:cNvPr id="7" name="Text 5"/>
          <p:cNvSpPr/>
          <p:nvPr/>
        </p:nvSpPr>
        <p:spPr>
          <a:xfrm>
            <a:off x="594360" y="1143000"/>
            <a:ext cx="5943600" cy="30175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EOQ  —  Economic Order Quantity</a:t>
            </a:r>
            <a:endParaRPr lang="en-US" sz="1300" dirty="0"/>
          </a:p>
        </p:txBody>
      </p:sp>
      <p:sp>
        <p:nvSpPr>
          <p:cNvPr id="8" name="Text 6"/>
          <p:cNvSpPr/>
          <p:nvPr/>
        </p:nvSpPr>
        <p:spPr>
          <a:xfrm>
            <a:off x="594360" y="1444752"/>
            <a:ext cx="5943600" cy="320040"/>
          </a:xfrm>
          <a:prstGeom prst="rect">
            <a:avLst/>
          </a:prstGeom>
          <a:noFill/>
          <a:ln/>
        </p:spPr>
        <p:txBody>
          <a:bodyPr wrap="square" lIns="0" tIns="0" rIns="0" bIns="0" rtlCol="0" anchor="ctr"/>
          <a:lstStyle/>
          <a:p>
            <a:pPr marL="0" indent="0">
              <a:buNone/>
            </a:pPr>
            <a:r>
              <a:rPr lang="en-US" sz="1300" b="1" dirty="0">
                <a:solidFill>
                  <a:srgbClr val="4A9EFF"/>
                </a:solidFill>
                <a:latin typeface="Calibri" pitchFamily="34" charset="0"/>
                <a:ea typeface="Calibri" pitchFamily="34" charset="-122"/>
                <a:cs typeface="Calibri" pitchFamily="34" charset="-120"/>
              </a:rPr>
              <a:t>EOQ = √(2 × D × S / H)</a:t>
            </a:r>
            <a:endParaRPr lang="en-US" sz="1300" dirty="0"/>
          </a:p>
        </p:txBody>
      </p:sp>
      <p:sp>
        <p:nvSpPr>
          <p:cNvPr id="9" name="Text 7"/>
          <p:cNvSpPr/>
          <p:nvPr/>
        </p:nvSpPr>
        <p:spPr>
          <a:xfrm>
            <a:off x="594360" y="1783080"/>
            <a:ext cx="5943600" cy="292608"/>
          </a:xfrm>
          <a:prstGeom prst="rect">
            <a:avLst/>
          </a:prstGeom>
          <a:noFill/>
          <a:ln/>
        </p:spPr>
        <p:txBody>
          <a:bodyPr wrap="square" lIns="0" tIns="0" rIns="0" bIns="0" rtlCol="0" anchor="ctr"/>
          <a:lstStyle/>
          <a:p>
            <a:pPr marL="0" indent="0">
              <a:buNone/>
            </a:pPr>
            <a:r>
              <a:rPr lang="en-US" sz="1000" dirty="0">
                <a:solidFill>
                  <a:srgbClr val="8899BB"/>
                </a:solidFill>
                <a:latin typeface="Calibri" pitchFamily="34" charset="0"/>
                <a:ea typeface="Calibri" pitchFamily="34" charset="-122"/>
                <a:cs typeface="Calibri" pitchFamily="34" charset="-120"/>
              </a:rPr>
              <a:t>D = Annual demand  |  S = Ordering cost  |  H = Holding cost per unit</a:t>
            </a:r>
            <a:endParaRPr lang="en-US" sz="1000" dirty="0"/>
          </a:p>
        </p:txBody>
      </p:sp>
      <p:sp>
        <p:nvSpPr>
          <p:cNvPr id="10" name="Shape 8"/>
          <p:cNvSpPr/>
          <p:nvPr/>
        </p:nvSpPr>
        <p:spPr>
          <a:xfrm>
            <a:off x="7132320" y="1188720"/>
            <a:ext cx="1463040" cy="896112"/>
          </a:xfrm>
          <a:prstGeom prst="rect">
            <a:avLst/>
          </a:prstGeom>
          <a:solidFill>
            <a:srgbClr val="0B1220"/>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1" name="Text 9"/>
          <p:cNvSpPr/>
          <p:nvPr/>
        </p:nvSpPr>
        <p:spPr>
          <a:xfrm>
            <a:off x="7132320" y="1234440"/>
            <a:ext cx="1463040" cy="384048"/>
          </a:xfrm>
          <a:prstGeom prst="rect">
            <a:avLst/>
          </a:prstGeom>
          <a:noFill/>
          <a:ln/>
        </p:spPr>
        <p:txBody>
          <a:bodyPr wrap="square" rtlCol="0" anchor="ctr"/>
          <a:lstStyle/>
          <a:p>
            <a:pPr marL="0" indent="0" algn="ctr">
              <a:buNone/>
            </a:pPr>
            <a:r>
              <a:rPr lang="en-US" sz="1800" b="1" dirty="0">
                <a:solidFill>
                  <a:srgbClr val="4A9EFF"/>
                </a:solidFill>
                <a:latin typeface="Calibri" pitchFamily="34" charset="0"/>
                <a:ea typeface="Calibri" pitchFamily="34" charset="-122"/>
                <a:cs typeface="Calibri" pitchFamily="34" charset="-120"/>
              </a:rPr>
              <a:t>5,591 units</a:t>
            </a:r>
            <a:endParaRPr lang="en-US" sz="1800" dirty="0"/>
          </a:p>
        </p:txBody>
      </p:sp>
      <p:sp>
        <p:nvSpPr>
          <p:cNvPr id="12" name="Text 10"/>
          <p:cNvSpPr/>
          <p:nvPr/>
        </p:nvSpPr>
        <p:spPr>
          <a:xfrm>
            <a:off x="7132320" y="1618488"/>
            <a:ext cx="1463040" cy="320040"/>
          </a:xfrm>
          <a:prstGeom prst="rect">
            <a:avLst/>
          </a:prstGeom>
          <a:noFill/>
          <a:ln/>
        </p:spPr>
        <p:txBody>
          <a:bodyPr wrap="square" rtlCol="0" anchor="ctr"/>
          <a:lstStyle/>
          <a:p>
            <a:pPr marL="0" indent="0" algn="ctr">
              <a:buNone/>
            </a:pPr>
            <a:r>
              <a:rPr lang="en-US" sz="900" dirty="0">
                <a:solidFill>
                  <a:srgbClr val="8899BB"/>
                </a:solidFill>
                <a:latin typeface="Calibri" pitchFamily="34" charset="0"/>
                <a:ea typeface="Calibri" pitchFamily="34" charset="-122"/>
                <a:cs typeface="Calibri" pitchFamily="34" charset="-120"/>
              </a:rPr>
              <a:t>Optimal order size</a:t>
            </a:r>
            <a:endParaRPr lang="en-US" sz="900" dirty="0"/>
          </a:p>
        </p:txBody>
      </p:sp>
      <p:sp>
        <p:nvSpPr>
          <p:cNvPr id="13" name="Shape 11"/>
          <p:cNvSpPr/>
          <p:nvPr/>
        </p:nvSpPr>
        <p:spPr>
          <a:xfrm>
            <a:off x="365760" y="2350008"/>
            <a:ext cx="8412480" cy="1170432"/>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4" name="Shape 12"/>
          <p:cNvSpPr/>
          <p:nvPr/>
        </p:nvSpPr>
        <p:spPr>
          <a:xfrm>
            <a:off x="365760" y="2350008"/>
            <a:ext cx="82296" cy="1170432"/>
          </a:xfrm>
          <a:prstGeom prst="rect">
            <a:avLst/>
          </a:prstGeom>
          <a:solidFill>
            <a:srgbClr val="F47B20"/>
          </a:solidFill>
          <a:ln w="12700">
            <a:solidFill>
              <a:srgbClr val="F47B20"/>
            </a:solidFill>
            <a:prstDash val="solid"/>
          </a:ln>
        </p:spPr>
        <p:txBody>
          <a:bodyPr/>
          <a:lstStyle/>
          <a:p>
            <a:endParaRPr lang="en-US"/>
          </a:p>
        </p:txBody>
      </p:sp>
      <p:sp>
        <p:nvSpPr>
          <p:cNvPr id="15" name="Text 13"/>
          <p:cNvSpPr/>
          <p:nvPr/>
        </p:nvSpPr>
        <p:spPr>
          <a:xfrm>
            <a:off x="594360" y="2441448"/>
            <a:ext cx="5943600" cy="30175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Safety Stock  —  Z-Score Method</a:t>
            </a:r>
            <a:endParaRPr lang="en-US" sz="1300" dirty="0"/>
          </a:p>
        </p:txBody>
      </p:sp>
      <p:sp>
        <p:nvSpPr>
          <p:cNvPr id="16" name="Text 14"/>
          <p:cNvSpPr/>
          <p:nvPr/>
        </p:nvSpPr>
        <p:spPr>
          <a:xfrm>
            <a:off x="594360" y="2743200"/>
            <a:ext cx="5943600" cy="320040"/>
          </a:xfrm>
          <a:prstGeom prst="rect">
            <a:avLst/>
          </a:prstGeom>
          <a:noFill/>
          <a:ln/>
        </p:spPr>
        <p:txBody>
          <a:bodyPr wrap="square" lIns="0" tIns="0" rIns="0" bIns="0" rtlCol="0" anchor="ctr"/>
          <a:lstStyle/>
          <a:p>
            <a:pPr marL="0" indent="0">
              <a:buNone/>
            </a:pPr>
            <a:r>
              <a:rPr lang="en-US" sz="1300" b="1" dirty="0">
                <a:solidFill>
                  <a:srgbClr val="F47B20"/>
                </a:solidFill>
                <a:latin typeface="Calibri" pitchFamily="34" charset="0"/>
                <a:ea typeface="Calibri" pitchFamily="34" charset="-122"/>
                <a:cs typeface="Calibri" pitchFamily="34" charset="-120"/>
              </a:rPr>
              <a:t>SS = Z × √(LT × σd² + D² × σLT²)</a:t>
            </a:r>
            <a:endParaRPr lang="en-US" sz="1300" dirty="0"/>
          </a:p>
        </p:txBody>
      </p:sp>
      <p:sp>
        <p:nvSpPr>
          <p:cNvPr id="17" name="Text 15"/>
          <p:cNvSpPr/>
          <p:nvPr/>
        </p:nvSpPr>
        <p:spPr>
          <a:xfrm>
            <a:off x="594360" y="3081528"/>
            <a:ext cx="5943600" cy="292608"/>
          </a:xfrm>
          <a:prstGeom prst="rect">
            <a:avLst/>
          </a:prstGeom>
          <a:noFill/>
          <a:ln/>
        </p:spPr>
        <p:txBody>
          <a:bodyPr wrap="square" lIns="0" tIns="0" rIns="0" bIns="0" rtlCol="0" anchor="ctr"/>
          <a:lstStyle/>
          <a:p>
            <a:pPr marL="0" indent="0">
              <a:buNone/>
            </a:pPr>
            <a:r>
              <a:rPr lang="en-US" sz="1000" dirty="0">
                <a:solidFill>
                  <a:srgbClr val="8899BB"/>
                </a:solidFill>
                <a:latin typeface="Calibri" pitchFamily="34" charset="0"/>
                <a:ea typeface="Calibri" pitchFamily="34" charset="-122"/>
                <a:cs typeface="Calibri" pitchFamily="34" charset="-120"/>
              </a:rPr>
              <a:t>Z = 1.645 at 95% service level  |  σd = demand std dev</a:t>
            </a:r>
            <a:endParaRPr lang="en-US" sz="1000" dirty="0"/>
          </a:p>
        </p:txBody>
      </p:sp>
      <p:sp>
        <p:nvSpPr>
          <p:cNvPr id="18" name="Shape 16"/>
          <p:cNvSpPr/>
          <p:nvPr/>
        </p:nvSpPr>
        <p:spPr>
          <a:xfrm>
            <a:off x="7132320" y="2487168"/>
            <a:ext cx="1463040" cy="896112"/>
          </a:xfrm>
          <a:prstGeom prst="rect">
            <a:avLst/>
          </a:prstGeom>
          <a:solidFill>
            <a:srgbClr val="0B1220"/>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9" name="Text 17"/>
          <p:cNvSpPr/>
          <p:nvPr/>
        </p:nvSpPr>
        <p:spPr>
          <a:xfrm>
            <a:off x="7132320" y="2532888"/>
            <a:ext cx="1463040" cy="384048"/>
          </a:xfrm>
          <a:prstGeom prst="rect">
            <a:avLst/>
          </a:prstGeom>
          <a:noFill/>
          <a:ln/>
        </p:spPr>
        <p:txBody>
          <a:bodyPr wrap="square" rtlCol="0" anchor="ctr"/>
          <a:lstStyle/>
          <a:p>
            <a:pPr marL="0" indent="0" algn="ctr">
              <a:buNone/>
            </a:pPr>
            <a:r>
              <a:rPr lang="en-US" sz="1800" b="1" dirty="0">
                <a:solidFill>
                  <a:srgbClr val="F47B20"/>
                </a:solidFill>
                <a:latin typeface="Calibri" pitchFamily="34" charset="0"/>
                <a:ea typeface="Calibri" pitchFamily="34" charset="-122"/>
                <a:cs typeface="Calibri" pitchFamily="34" charset="-120"/>
              </a:rPr>
              <a:t>6,838 units</a:t>
            </a:r>
            <a:endParaRPr lang="en-US" sz="1800" dirty="0"/>
          </a:p>
        </p:txBody>
      </p:sp>
      <p:sp>
        <p:nvSpPr>
          <p:cNvPr id="20" name="Text 18"/>
          <p:cNvSpPr/>
          <p:nvPr/>
        </p:nvSpPr>
        <p:spPr>
          <a:xfrm>
            <a:off x="7132320" y="2916936"/>
            <a:ext cx="1463040" cy="320040"/>
          </a:xfrm>
          <a:prstGeom prst="rect">
            <a:avLst/>
          </a:prstGeom>
          <a:noFill/>
          <a:ln/>
        </p:spPr>
        <p:txBody>
          <a:bodyPr wrap="square" rtlCol="0" anchor="ctr"/>
          <a:lstStyle/>
          <a:p>
            <a:pPr marL="0" indent="0" algn="ctr">
              <a:buNone/>
            </a:pPr>
            <a:r>
              <a:rPr lang="en-US" sz="900" dirty="0">
                <a:solidFill>
                  <a:srgbClr val="8899BB"/>
                </a:solidFill>
                <a:latin typeface="Calibri" pitchFamily="34" charset="0"/>
                <a:ea typeface="Calibri" pitchFamily="34" charset="-122"/>
                <a:cs typeface="Calibri" pitchFamily="34" charset="-120"/>
              </a:rPr>
              <a:t>Buffer inventory</a:t>
            </a:r>
            <a:endParaRPr lang="en-US" sz="900" dirty="0"/>
          </a:p>
        </p:txBody>
      </p:sp>
      <p:sp>
        <p:nvSpPr>
          <p:cNvPr id="21" name="Shape 19"/>
          <p:cNvSpPr/>
          <p:nvPr/>
        </p:nvSpPr>
        <p:spPr>
          <a:xfrm>
            <a:off x="365760" y="3648456"/>
            <a:ext cx="8412480" cy="1170432"/>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22" name="Shape 20"/>
          <p:cNvSpPr/>
          <p:nvPr/>
        </p:nvSpPr>
        <p:spPr>
          <a:xfrm>
            <a:off x="365760" y="3648456"/>
            <a:ext cx="82296" cy="1170432"/>
          </a:xfrm>
          <a:prstGeom prst="rect">
            <a:avLst/>
          </a:prstGeom>
          <a:solidFill>
            <a:srgbClr val="E24B4A"/>
          </a:solidFill>
          <a:ln w="12700">
            <a:solidFill>
              <a:srgbClr val="E24B4A"/>
            </a:solidFill>
            <a:prstDash val="solid"/>
          </a:ln>
        </p:spPr>
        <p:txBody>
          <a:bodyPr/>
          <a:lstStyle/>
          <a:p>
            <a:endParaRPr lang="en-US"/>
          </a:p>
        </p:txBody>
      </p:sp>
      <p:sp>
        <p:nvSpPr>
          <p:cNvPr id="23" name="Text 21"/>
          <p:cNvSpPr/>
          <p:nvPr/>
        </p:nvSpPr>
        <p:spPr>
          <a:xfrm>
            <a:off x="594360" y="3739896"/>
            <a:ext cx="5943600" cy="30175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ROP  —  Reorder Point</a:t>
            </a:r>
            <a:endParaRPr lang="en-US" sz="1300" dirty="0"/>
          </a:p>
        </p:txBody>
      </p:sp>
      <p:sp>
        <p:nvSpPr>
          <p:cNvPr id="24" name="Text 22"/>
          <p:cNvSpPr/>
          <p:nvPr/>
        </p:nvSpPr>
        <p:spPr>
          <a:xfrm>
            <a:off x="594360" y="4041648"/>
            <a:ext cx="5943600" cy="320040"/>
          </a:xfrm>
          <a:prstGeom prst="rect">
            <a:avLst/>
          </a:prstGeom>
          <a:noFill/>
          <a:ln/>
        </p:spPr>
        <p:txBody>
          <a:bodyPr wrap="square" lIns="0" tIns="0" rIns="0" bIns="0" rtlCol="0" anchor="ctr"/>
          <a:lstStyle/>
          <a:p>
            <a:pPr marL="0" indent="0">
              <a:buNone/>
            </a:pPr>
            <a:r>
              <a:rPr lang="en-US" sz="1300" b="1" dirty="0">
                <a:solidFill>
                  <a:srgbClr val="E24B4A"/>
                </a:solidFill>
                <a:latin typeface="Calibri" pitchFamily="34" charset="0"/>
                <a:ea typeface="Calibri" pitchFamily="34" charset="-122"/>
                <a:cs typeface="Calibri" pitchFamily="34" charset="-120"/>
              </a:rPr>
              <a:t>ROP = (Avg Daily Demand × Lead Time) + SS</a:t>
            </a:r>
            <a:endParaRPr lang="en-US" sz="1300" dirty="0"/>
          </a:p>
        </p:txBody>
      </p:sp>
      <p:sp>
        <p:nvSpPr>
          <p:cNvPr id="25" name="Text 23"/>
          <p:cNvSpPr/>
          <p:nvPr/>
        </p:nvSpPr>
        <p:spPr>
          <a:xfrm>
            <a:off x="594360" y="4379976"/>
            <a:ext cx="5943600" cy="292608"/>
          </a:xfrm>
          <a:prstGeom prst="rect">
            <a:avLst/>
          </a:prstGeom>
          <a:noFill/>
          <a:ln/>
        </p:spPr>
        <p:txBody>
          <a:bodyPr wrap="square" lIns="0" tIns="0" rIns="0" bIns="0" rtlCol="0" anchor="ctr"/>
          <a:lstStyle/>
          <a:p>
            <a:pPr marL="0" indent="0">
              <a:buNone/>
            </a:pPr>
            <a:r>
              <a:rPr lang="en-US" sz="1000" dirty="0">
                <a:solidFill>
                  <a:srgbClr val="8899BB"/>
                </a:solidFill>
                <a:latin typeface="Calibri" pitchFamily="34" charset="0"/>
                <a:ea typeface="Calibri" pitchFamily="34" charset="-122"/>
                <a:cs typeface="Calibri" pitchFamily="34" charset="-120"/>
              </a:rPr>
              <a:t>Lead time = 7 days  |  Safety Stock included</a:t>
            </a:r>
            <a:endParaRPr lang="en-US" sz="1000" dirty="0"/>
          </a:p>
        </p:txBody>
      </p:sp>
      <p:sp>
        <p:nvSpPr>
          <p:cNvPr id="26" name="Shape 24"/>
          <p:cNvSpPr/>
          <p:nvPr/>
        </p:nvSpPr>
        <p:spPr>
          <a:xfrm>
            <a:off x="7132320" y="3785616"/>
            <a:ext cx="1463040" cy="896112"/>
          </a:xfrm>
          <a:prstGeom prst="rect">
            <a:avLst/>
          </a:prstGeom>
          <a:solidFill>
            <a:srgbClr val="0B1220"/>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27" name="Text 25"/>
          <p:cNvSpPr/>
          <p:nvPr/>
        </p:nvSpPr>
        <p:spPr>
          <a:xfrm>
            <a:off x="7132320" y="3831336"/>
            <a:ext cx="1463040" cy="384048"/>
          </a:xfrm>
          <a:prstGeom prst="rect">
            <a:avLst/>
          </a:prstGeom>
          <a:noFill/>
          <a:ln/>
        </p:spPr>
        <p:txBody>
          <a:bodyPr wrap="square" rtlCol="0" anchor="ctr"/>
          <a:lstStyle/>
          <a:p>
            <a:pPr marL="0" indent="0" algn="ctr">
              <a:buNone/>
            </a:pPr>
            <a:r>
              <a:rPr lang="en-US" sz="1800" b="1" dirty="0">
                <a:solidFill>
                  <a:srgbClr val="E24B4A"/>
                </a:solidFill>
                <a:latin typeface="Calibri" pitchFamily="34" charset="0"/>
                <a:ea typeface="Calibri" pitchFamily="34" charset="-122"/>
                <a:cs typeface="Calibri" pitchFamily="34" charset="-120"/>
              </a:rPr>
              <a:t>22,034 units</a:t>
            </a:r>
            <a:endParaRPr lang="en-US" sz="1800" dirty="0"/>
          </a:p>
        </p:txBody>
      </p:sp>
      <p:sp>
        <p:nvSpPr>
          <p:cNvPr id="28" name="Text 26"/>
          <p:cNvSpPr/>
          <p:nvPr/>
        </p:nvSpPr>
        <p:spPr>
          <a:xfrm>
            <a:off x="7132320" y="4215384"/>
            <a:ext cx="1463040" cy="320040"/>
          </a:xfrm>
          <a:prstGeom prst="rect">
            <a:avLst/>
          </a:prstGeom>
          <a:noFill/>
          <a:ln/>
        </p:spPr>
        <p:txBody>
          <a:bodyPr wrap="square" rtlCol="0" anchor="ctr"/>
          <a:lstStyle/>
          <a:p>
            <a:pPr marL="0" indent="0" algn="ctr">
              <a:buNone/>
            </a:pPr>
            <a:r>
              <a:rPr lang="en-US" sz="900" dirty="0">
                <a:solidFill>
                  <a:srgbClr val="8899BB"/>
                </a:solidFill>
                <a:latin typeface="Calibri" pitchFamily="34" charset="0"/>
                <a:ea typeface="Calibri" pitchFamily="34" charset="-122"/>
                <a:cs typeface="Calibri" pitchFamily="34" charset="-120"/>
              </a:rPr>
              <a:t>Order trigger point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A9EFF"/>
          </a:solidFill>
          <a:ln w="12700">
            <a:solidFill>
              <a:srgbClr val="4A9EFF"/>
            </a:solidFill>
            <a:prstDash val="solid"/>
          </a:ln>
        </p:spPr>
        <p:txBody>
          <a:bodyPr/>
          <a:lstStyle/>
          <a:p>
            <a:endParaRPr lang="en-US"/>
          </a:p>
        </p:txBody>
      </p:sp>
      <p:sp>
        <p:nvSpPr>
          <p:cNvPr id="3" name="Text 1"/>
          <p:cNvSpPr/>
          <p:nvPr/>
        </p:nvSpPr>
        <p:spPr>
          <a:xfrm>
            <a:off x="457200" y="164592"/>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Live Dashboard — KPI Cards &amp; Forecast Chart</a:t>
            </a:r>
            <a:endParaRPr lang="en-US" sz="28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marL="0" indent="0">
              <a:buNone/>
            </a:pPr>
            <a:r>
              <a:rPr lang="en-US" sz="1300" dirty="0">
                <a:solidFill>
                  <a:srgbClr val="8899BB"/>
                </a:solidFill>
                <a:latin typeface="Calibri" pitchFamily="34" charset="0"/>
                <a:ea typeface="Calibri" pitchFamily="34" charset="-122"/>
                <a:cs typeface="Calibri" pitchFamily="34" charset="-120"/>
              </a:rPr>
              <a:t>Running at localhost:3000 — React frontend connected to FastAPI backend</a:t>
            </a:r>
            <a:endParaRPr lang="en-US" sz="1300" dirty="0"/>
          </a:p>
        </p:txBody>
      </p:sp>
      <p:pic>
        <p:nvPicPr>
          <p:cNvPr id="5" name="Image 0" descr="preencoded.png"/>
          <p:cNvPicPr>
            <a:picLocks noChangeAspect="1"/>
          </p:cNvPicPr>
          <p:nvPr/>
        </p:nvPicPr>
        <p:blipFill>
          <a:blip r:embed="rId3"/>
          <a:srcRect/>
          <a:stretch/>
        </p:blipFill>
        <p:spPr>
          <a:xfrm>
            <a:off x="274320" y="914400"/>
            <a:ext cx="8595360" cy="3931920"/>
          </a:xfrm>
          <a:prstGeom prst="rect">
            <a:avLst/>
          </a:prstGeom>
        </p:spPr>
      </p:pic>
      <p:sp>
        <p:nvSpPr>
          <p:cNvPr id="6" name="Text 3"/>
          <p:cNvSpPr/>
          <p:nvPr/>
        </p:nvSpPr>
        <p:spPr>
          <a:xfrm>
            <a:off x="274320" y="4846320"/>
            <a:ext cx="8595360" cy="228600"/>
          </a:xfrm>
          <a:prstGeom prst="rect">
            <a:avLst/>
          </a:prstGeom>
          <a:noFill/>
          <a:ln/>
        </p:spPr>
        <p:txBody>
          <a:bodyPr wrap="square" rtlCol="0" anchor="ctr"/>
          <a:lstStyle/>
          <a:p>
            <a:pPr marL="0" indent="0" algn="ctr">
              <a:buNone/>
            </a:pPr>
            <a:r>
              <a:rPr lang="en-US" sz="900" dirty="0">
                <a:solidFill>
                  <a:srgbClr val="8899BB"/>
                </a:solidFill>
                <a:latin typeface="Calibri" pitchFamily="34" charset="0"/>
                <a:ea typeface="Calibri" pitchFamily="34" charset="-122"/>
                <a:cs typeface="Calibri" pitchFamily="34" charset="-120"/>
              </a:rPr>
              <a:t>Screenshot: DemandSense Dashboard showing real-time KPI cards and 6-month demand forecast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CC71"/>
          </a:solidFill>
          <a:ln w="12700">
            <a:solidFill>
              <a:srgbClr val="2ECC71"/>
            </a:solidFill>
            <a:prstDash val="solid"/>
          </a:ln>
        </p:spPr>
        <p:txBody>
          <a:bodyPr/>
          <a:lstStyle/>
          <a:p>
            <a:endParaRPr lang="en-US"/>
          </a:p>
        </p:txBody>
      </p:sp>
      <p:sp>
        <p:nvSpPr>
          <p:cNvPr id="3" name="Text 1"/>
          <p:cNvSpPr/>
          <p:nvPr/>
        </p:nvSpPr>
        <p:spPr>
          <a:xfrm>
            <a:off x="457200" y="164592"/>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Inventory Status &amp; Model Performance</a:t>
            </a:r>
            <a:endParaRPr lang="en-US" sz="28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marL="0" indent="0">
              <a:buNone/>
            </a:pPr>
            <a:r>
              <a:rPr lang="en-US" sz="1300" dirty="0">
                <a:solidFill>
                  <a:srgbClr val="8899BB"/>
                </a:solidFill>
                <a:latin typeface="Calibri" pitchFamily="34" charset="0"/>
                <a:ea typeface="Calibri" pitchFamily="34" charset="-122"/>
                <a:cs typeface="Calibri" pitchFamily="34" charset="-120"/>
              </a:rPr>
              <a:t>Real-time stock alerts and transparent AI model comparison</a:t>
            </a:r>
            <a:endParaRPr lang="en-US" sz="1300" dirty="0"/>
          </a:p>
        </p:txBody>
      </p:sp>
      <p:pic>
        <p:nvPicPr>
          <p:cNvPr id="5" name="Image 0" descr="preencoded.png"/>
          <p:cNvPicPr>
            <a:picLocks noChangeAspect="1"/>
          </p:cNvPicPr>
          <p:nvPr/>
        </p:nvPicPr>
        <p:blipFill>
          <a:blip r:embed="rId3"/>
          <a:srcRect/>
          <a:stretch/>
        </p:blipFill>
        <p:spPr>
          <a:xfrm>
            <a:off x="274320" y="914400"/>
            <a:ext cx="8595360" cy="3931920"/>
          </a:xfrm>
          <a:prstGeom prst="rect">
            <a:avLst/>
          </a:prstGeom>
        </p:spPr>
      </p:pic>
      <p:sp>
        <p:nvSpPr>
          <p:cNvPr id="6" name="Text 3"/>
          <p:cNvSpPr/>
          <p:nvPr/>
        </p:nvSpPr>
        <p:spPr>
          <a:xfrm>
            <a:off x="274320" y="4846320"/>
            <a:ext cx="8595360" cy="228600"/>
          </a:xfrm>
          <a:prstGeom prst="rect">
            <a:avLst/>
          </a:prstGeom>
          <a:noFill/>
          <a:ln/>
        </p:spPr>
        <p:txBody>
          <a:bodyPr wrap="square" rtlCol="0" anchor="ctr"/>
          <a:lstStyle/>
          <a:p>
            <a:pPr marL="0" indent="0" algn="ctr">
              <a:buNone/>
            </a:pPr>
            <a:r>
              <a:rPr lang="en-US" sz="900" dirty="0">
                <a:solidFill>
                  <a:srgbClr val="8899BB"/>
                </a:solidFill>
                <a:latin typeface="Calibri" pitchFamily="34" charset="0"/>
                <a:ea typeface="Calibri" pitchFamily="34" charset="-122"/>
                <a:cs typeface="Calibri" pitchFamily="34" charset="-120"/>
              </a:rPr>
              <a:t>Screenshot: Inventory status gauge with critical alert + ARIMA vs Gradient Boosting comparison table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47B20"/>
          </a:solidFill>
          <a:ln w="12700">
            <a:solidFill>
              <a:srgbClr val="F47B20"/>
            </a:solidFill>
            <a:prstDash val="solid"/>
          </a:ln>
        </p:spPr>
        <p:txBody>
          <a:bodyPr/>
          <a:lstStyle/>
          <a:p>
            <a:endParaRPr lang="en-US"/>
          </a:p>
        </p:txBody>
      </p:sp>
      <p:sp>
        <p:nvSpPr>
          <p:cNvPr id="3" name="Text 1"/>
          <p:cNvSpPr/>
          <p:nvPr/>
        </p:nvSpPr>
        <p:spPr>
          <a:xfrm>
            <a:off x="457200" y="164592"/>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CSV Upload &amp; REST API</a:t>
            </a:r>
            <a:endParaRPr lang="en-US" sz="28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marL="0" indent="0">
              <a:buNone/>
            </a:pPr>
            <a:r>
              <a:rPr lang="en-US" sz="1300" dirty="0">
                <a:solidFill>
                  <a:srgbClr val="8899BB"/>
                </a:solidFill>
                <a:latin typeface="Calibri" pitchFamily="34" charset="0"/>
                <a:ea typeface="Calibri" pitchFamily="34" charset="-122"/>
                <a:cs typeface="Calibri" pitchFamily="34" charset="-120"/>
              </a:rPr>
              <a:t>Self-service forecasting with full FastAPI backend documentation</a:t>
            </a:r>
            <a:endParaRPr lang="en-US" sz="1300" dirty="0"/>
          </a:p>
        </p:txBody>
      </p:sp>
      <p:pic>
        <p:nvPicPr>
          <p:cNvPr id="5" name="Image 0" descr="preencoded.png"/>
          <p:cNvPicPr>
            <a:picLocks noChangeAspect="1"/>
          </p:cNvPicPr>
          <p:nvPr/>
        </p:nvPicPr>
        <p:blipFill>
          <a:blip r:embed="rId3"/>
          <a:srcRect/>
          <a:stretch/>
        </p:blipFill>
        <p:spPr>
          <a:xfrm>
            <a:off x="274320" y="1005840"/>
            <a:ext cx="5120640" cy="3200400"/>
          </a:xfrm>
          <a:prstGeom prst="rect">
            <a:avLst/>
          </a:prstGeom>
        </p:spPr>
      </p:pic>
      <p:sp>
        <p:nvSpPr>
          <p:cNvPr id="6" name="Text 3"/>
          <p:cNvSpPr/>
          <p:nvPr/>
        </p:nvSpPr>
        <p:spPr>
          <a:xfrm>
            <a:off x="274320" y="4206240"/>
            <a:ext cx="5120640" cy="228600"/>
          </a:xfrm>
          <a:prstGeom prst="rect">
            <a:avLst/>
          </a:prstGeom>
          <a:noFill/>
          <a:ln/>
        </p:spPr>
        <p:txBody>
          <a:bodyPr wrap="square" rtlCol="0" anchor="ctr"/>
          <a:lstStyle/>
          <a:p>
            <a:pPr marL="0" indent="0" algn="ctr">
              <a:buNone/>
            </a:pPr>
            <a:r>
              <a:rPr lang="en-US" sz="900" dirty="0">
                <a:solidFill>
                  <a:srgbClr val="8899BB"/>
                </a:solidFill>
                <a:latin typeface="Calibri" pitchFamily="34" charset="0"/>
                <a:ea typeface="Calibri" pitchFamily="34" charset="-122"/>
                <a:cs typeface="Calibri" pitchFamily="34" charset="-120"/>
              </a:rPr>
              <a:t>Upload page — drag-and-drop CSV → instant AI forecast</a:t>
            </a:r>
            <a:endParaRPr lang="en-US" sz="900" dirty="0"/>
          </a:p>
        </p:txBody>
      </p:sp>
      <p:pic>
        <p:nvPicPr>
          <p:cNvPr id="7" name="Image 1" descr="preencoded.png"/>
          <p:cNvPicPr>
            <a:picLocks noChangeAspect="1"/>
          </p:cNvPicPr>
          <p:nvPr/>
        </p:nvPicPr>
        <p:blipFill>
          <a:blip r:embed="rId4"/>
          <a:srcRect/>
          <a:stretch/>
        </p:blipFill>
        <p:spPr>
          <a:xfrm>
            <a:off x="5394960" y="1005840"/>
            <a:ext cx="3657600" cy="2560320"/>
          </a:xfrm>
          <a:prstGeom prst="rect">
            <a:avLst/>
          </a:prstGeom>
        </p:spPr>
      </p:pic>
      <p:sp>
        <p:nvSpPr>
          <p:cNvPr id="8" name="Text 4"/>
          <p:cNvSpPr/>
          <p:nvPr/>
        </p:nvSpPr>
        <p:spPr>
          <a:xfrm>
            <a:off x="5394960" y="3566160"/>
            <a:ext cx="3657600" cy="228600"/>
          </a:xfrm>
          <a:prstGeom prst="rect">
            <a:avLst/>
          </a:prstGeom>
          <a:noFill/>
          <a:ln/>
        </p:spPr>
        <p:txBody>
          <a:bodyPr wrap="square" rtlCol="0" anchor="ctr"/>
          <a:lstStyle/>
          <a:p>
            <a:pPr marL="0" indent="0" algn="ctr">
              <a:buNone/>
            </a:pPr>
            <a:r>
              <a:rPr lang="en-US" sz="900" dirty="0">
                <a:solidFill>
                  <a:srgbClr val="8899BB"/>
                </a:solidFill>
                <a:latin typeface="Calibri" pitchFamily="34" charset="0"/>
                <a:ea typeface="Calibri" pitchFamily="34" charset="-122"/>
                <a:cs typeface="Calibri" pitchFamily="34" charset="-120"/>
              </a:rPr>
              <a:t>Swagger UI — 5 live REST endpoints</a:t>
            </a:r>
            <a:endParaRPr lang="en-US" sz="900" dirty="0"/>
          </a:p>
        </p:txBody>
      </p:sp>
      <p:sp>
        <p:nvSpPr>
          <p:cNvPr id="9" name="Shape 5"/>
          <p:cNvSpPr/>
          <p:nvPr/>
        </p:nvSpPr>
        <p:spPr>
          <a:xfrm>
            <a:off x="5394960" y="3886200"/>
            <a:ext cx="3657600" cy="219456"/>
          </a:xfrm>
          <a:prstGeom prst="rect">
            <a:avLst/>
          </a:prstGeom>
          <a:solidFill>
            <a:srgbClr val="0B1220"/>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0" name="Text 6"/>
          <p:cNvSpPr/>
          <p:nvPr/>
        </p:nvSpPr>
        <p:spPr>
          <a:xfrm>
            <a:off x="5440680" y="3904488"/>
            <a:ext cx="594360" cy="182880"/>
          </a:xfrm>
          <a:prstGeom prst="rect">
            <a:avLst/>
          </a:prstGeom>
          <a:noFill/>
          <a:ln/>
        </p:spPr>
        <p:txBody>
          <a:bodyPr wrap="square" rtlCol="0" anchor="ctr"/>
          <a:lstStyle/>
          <a:p>
            <a:pPr marL="0" indent="0">
              <a:buNone/>
            </a:pPr>
            <a:r>
              <a:rPr lang="en-US" sz="900" b="1" dirty="0">
                <a:solidFill>
                  <a:srgbClr val="F47B20"/>
                </a:solidFill>
                <a:latin typeface="Calibri" pitchFamily="34" charset="0"/>
                <a:ea typeface="Calibri" pitchFamily="34" charset="-122"/>
                <a:cs typeface="Calibri" pitchFamily="34" charset="-120"/>
              </a:rPr>
              <a:t>POST</a:t>
            </a:r>
            <a:endParaRPr lang="en-US" sz="900" dirty="0"/>
          </a:p>
        </p:txBody>
      </p:sp>
      <p:sp>
        <p:nvSpPr>
          <p:cNvPr id="11" name="Text 7"/>
          <p:cNvSpPr/>
          <p:nvPr/>
        </p:nvSpPr>
        <p:spPr>
          <a:xfrm>
            <a:off x="6053328" y="3904488"/>
            <a:ext cx="2926080" cy="182880"/>
          </a:xfrm>
          <a:prstGeom prst="rect">
            <a:avLst/>
          </a:prstGeom>
          <a:noFill/>
          <a:ln/>
        </p:spPr>
        <p:txBody>
          <a:bodyPr wrap="square" rtlCol="0" anchor="ctr"/>
          <a:lstStyle/>
          <a:p>
            <a:pPr marL="0" indent="0">
              <a:buNone/>
            </a:pPr>
            <a:r>
              <a:rPr lang="en-US" sz="900" dirty="0">
                <a:solidFill>
                  <a:srgbClr val="C8D8F0"/>
                </a:solidFill>
                <a:latin typeface="Calibri" pitchFamily="34" charset="0"/>
                <a:ea typeface="Calibri" pitchFamily="34" charset="-122"/>
                <a:cs typeface="Calibri" pitchFamily="34" charset="-120"/>
              </a:rPr>
              <a:t>/api/upload</a:t>
            </a:r>
            <a:endParaRPr lang="en-US" sz="900" dirty="0"/>
          </a:p>
        </p:txBody>
      </p:sp>
      <p:sp>
        <p:nvSpPr>
          <p:cNvPr id="12" name="Shape 8"/>
          <p:cNvSpPr/>
          <p:nvPr/>
        </p:nvSpPr>
        <p:spPr>
          <a:xfrm>
            <a:off x="5394960" y="4133088"/>
            <a:ext cx="3657600" cy="219456"/>
          </a:xfrm>
          <a:prstGeom prst="rect">
            <a:avLst/>
          </a:prstGeom>
          <a:solidFill>
            <a:srgbClr val="0B1220"/>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3" name="Text 9"/>
          <p:cNvSpPr/>
          <p:nvPr/>
        </p:nvSpPr>
        <p:spPr>
          <a:xfrm>
            <a:off x="5440680" y="4151376"/>
            <a:ext cx="594360" cy="182880"/>
          </a:xfrm>
          <a:prstGeom prst="rect">
            <a:avLst/>
          </a:prstGeom>
          <a:noFill/>
          <a:ln/>
        </p:spPr>
        <p:txBody>
          <a:bodyPr wrap="square" rtlCol="0" anchor="ctr"/>
          <a:lstStyle/>
          <a:p>
            <a:pPr marL="0" indent="0">
              <a:buNone/>
            </a:pPr>
            <a:r>
              <a:rPr lang="en-US" sz="900" b="1" dirty="0">
                <a:solidFill>
                  <a:srgbClr val="4A9EFF"/>
                </a:solidFill>
                <a:latin typeface="Calibri" pitchFamily="34" charset="0"/>
                <a:ea typeface="Calibri" pitchFamily="34" charset="-122"/>
                <a:cs typeface="Calibri" pitchFamily="34" charset="-120"/>
              </a:rPr>
              <a:t>POST</a:t>
            </a:r>
            <a:endParaRPr lang="en-US" sz="900" dirty="0"/>
          </a:p>
        </p:txBody>
      </p:sp>
      <p:sp>
        <p:nvSpPr>
          <p:cNvPr id="14" name="Text 10"/>
          <p:cNvSpPr/>
          <p:nvPr/>
        </p:nvSpPr>
        <p:spPr>
          <a:xfrm>
            <a:off x="6053328" y="4151376"/>
            <a:ext cx="2926080" cy="182880"/>
          </a:xfrm>
          <a:prstGeom prst="rect">
            <a:avLst/>
          </a:prstGeom>
          <a:noFill/>
          <a:ln/>
        </p:spPr>
        <p:txBody>
          <a:bodyPr wrap="square" rtlCol="0" anchor="ctr"/>
          <a:lstStyle/>
          <a:p>
            <a:pPr marL="0" indent="0">
              <a:buNone/>
            </a:pPr>
            <a:r>
              <a:rPr lang="en-US" sz="900" dirty="0">
                <a:solidFill>
                  <a:srgbClr val="C8D8F0"/>
                </a:solidFill>
                <a:latin typeface="Calibri" pitchFamily="34" charset="0"/>
                <a:ea typeface="Calibri" pitchFamily="34" charset="-122"/>
                <a:cs typeface="Calibri" pitchFamily="34" charset="-120"/>
              </a:rPr>
              <a:t>/api/forecast</a:t>
            </a:r>
            <a:endParaRPr lang="en-US" sz="900" dirty="0"/>
          </a:p>
        </p:txBody>
      </p:sp>
      <p:sp>
        <p:nvSpPr>
          <p:cNvPr id="15" name="Shape 11"/>
          <p:cNvSpPr/>
          <p:nvPr/>
        </p:nvSpPr>
        <p:spPr>
          <a:xfrm>
            <a:off x="5394960" y="4379976"/>
            <a:ext cx="3657600" cy="219456"/>
          </a:xfrm>
          <a:prstGeom prst="rect">
            <a:avLst/>
          </a:prstGeom>
          <a:solidFill>
            <a:srgbClr val="0B1220"/>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6" name="Text 12"/>
          <p:cNvSpPr/>
          <p:nvPr/>
        </p:nvSpPr>
        <p:spPr>
          <a:xfrm>
            <a:off x="5440680" y="4398264"/>
            <a:ext cx="594360" cy="182880"/>
          </a:xfrm>
          <a:prstGeom prst="rect">
            <a:avLst/>
          </a:prstGeom>
          <a:noFill/>
          <a:ln/>
        </p:spPr>
        <p:txBody>
          <a:bodyPr wrap="square" rtlCol="0" anchor="ctr"/>
          <a:lstStyle/>
          <a:p>
            <a:pPr marL="0" indent="0">
              <a:buNone/>
            </a:pPr>
            <a:r>
              <a:rPr lang="en-US" sz="900" b="1" dirty="0">
                <a:solidFill>
                  <a:srgbClr val="2ECC71"/>
                </a:solidFill>
                <a:latin typeface="Calibri" pitchFamily="34" charset="0"/>
                <a:ea typeface="Calibri" pitchFamily="34" charset="-122"/>
                <a:cs typeface="Calibri" pitchFamily="34" charset="-120"/>
              </a:rPr>
              <a:t>POST</a:t>
            </a:r>
            <a:endParaRPr lang="en-US" sz="900" dirty="0"/>
          </a:p>
        </p:txBody>
      </p:sp>
      <p:sp>
        <p:nvSpPr>
          <p:cNvPr id="17" name="Text 13"/>
          <p:cNvSpPr/>
          <p:nvPr/>
        </p:nvSpPr>
        <p:spPr>
          <a:xfrm>
            <a:off x="6053328" y="4398264"/>
            <a:ext cx="2926080" cy="182880"/>
          </a:xfrm>
          <a:prstGeom prst="rect">
            <a:avLst/>
          </a:prstGeom>
          <a:noFill/>
          <a:ln/>
        </p:spPr>
        <p:txBody>
          <a:bodyPr wrap="square" rtlCol="0" anchor="ctr"/>
          <a:lstStyle/>
          <a:p>
            <a:pPr marL="0" indent="0">
              <a:buNone/>
            </a:pPr>
            <a:r>
              <a:rPr lang="en-US" sz="900" dirty="0">
                <a:solidFill>
                  <a:srgbClr val="C8D8F0"/>
                </a:solidFill>
                <a:latin typeface="Calibri" pitchFamily="34" charset="0"/>
                <a:ea typeface="Calibri" pitchFamily="34" charset="-122"/>
                <a:cs typeface="Calibri" pitchFamily="34" charset="-120"/>
              </a:rPr>
              <a:t>/api/inventory</a:t>
            </a:r>
            <a:endParaRPr lang="en-US" sz="900" dirty="0"/>
          </a:p>
        </p:txBody>
      </p:sp>
      <p:sp>
        <p:nvSpPr>
          <p:cNvPr id="18" name="Shape 14"/>
          <p:cNvSpPr/>
          <p:nvPr/>
        </p:nvSpPr>
        <p:spPr>
          <a:xfrm>
            <a:off x="5394960" y="4626864"/>
            <a:ext cx="3657600" cy="219456"/>
          </a:xfrm>
          <a:prstGeom prst="rect">
            <a:avLst/>
          </a:prstGeom>
          <a:solidFill>
            <a:srgbClr val="0B1220"/>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9" name="Text 15"/>
          <p:cNvSpPr/>
          <p:nvPr/>
        </p:nvSpPr>
        <p:spPr>
          <a:xfrm>
            <a:off x="5440680" y="4645152"/>
            <a:ext cx="594360" cy="182880"/>
          </a:xfrm>
          <a:prstGeom prst="rect">
            <a:avLst/>
          </a:prstGeom>
          <a:noFill/>
          <a:ln/>
        </p:spPr>
        <p:txBody>
          <a:bodyPr wrap="square" rtlCol="0" anchor="ctr"/>
          <a:lstStyle/>
          <a:p>
            <a:pPr marL="0" indent="0">
              <a:buNone/>
            </a:pPr>
            <a:r>
              <a:rPr lang="en-US" sz="900" b="1" dirty="0">
                <a:solidFill>
                  <a:srgbClr val="4A9EFF"/>
                </a:solidFill>
                <a:latin typeface="Calibri" pitchFamily="34" charset="0"/>
                <a:ea typeface="Calibri" pitchFamily="34" charset="-122"/>
                <a:cs typeface="Calibri" pitchFamily="34" charset="-120"/>
              </a:rPr>
              <a:t>GET</a:t>
            </a:r>
            <a:endParaRPr lang="en-US" sz="900" dirty="0"/>
          </a:p>
        </p:txBody>
      </p:sp>
      <p:sp>
        <p:nvSpPr>
          <p:cNvPr id="20" name="Text 16"/>
          <p:cNvSpPr/>
          <p:nvPr/>
        </p:nvSpPr>
        <p:spPr>
          <a:xfrm>
            <a:off x="6053328" y="4645152"/>
            <a:ext cx="2926080" cy="182880"/>
          </a:xfrm>
          <a:prstGeom prst="rect">
            <a:avLst/>
          </a:prstGeom>
          <a:noFill/>
          <a:ln/>
        </p:spPr>
        <p:txBody>
          <a:bodyPr wrap="square" rtlCol="0" anchor="ctr"/>
          <a:lstStyle/>
          <a:p>
            <a:pPr marL="0" indent="0">
              <a:buNone/>
            </a:pPr>
            <a:r>
              <a:rPr lang="en-US" sz="900" dirty="0">
                <a:solidFill>
                  <a:srgbClr val="C8D8F0"/>
                </a:solidFill>
                <a:latin typeface="Calibri" pitchFamily="34" charset="0"/>
                <a:ea typeface="Calibri" pitchFamily="34" charset="-122"/>
                <a:cs typeface="Calibri" pitchFamily="34" charset="-120"/>
              </a:rPr>
              <a:t>/api/dashboard</a:t>
            </a:r>
            <a:endParaRPr lang="en-US" sz="900" dirty="0"/>
          </a:p>
        </p:txBody>
      </p:sp>
      <p:sp>
        <p:nvSpPr>
          <p:cNvPr id="21" name="Shape 17"/>
          <p:cNvSpPr/>
          <p:nvPr/>
        </p:nvSpPr>
        <p:spPr>
          <a:xfrm>
            <a:off x="5394960" y="4873752"/>
            <a:ext cx="3657600" cy="219456"/>
          </a:xfrm>
          <a:prstGeom prst="rect">
            <a:avLst/>
          </a:prstGeom>
          <a:solidFill>
            <a:srgbClr val="0B1220"/>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22" name="Text 18"/>
          <p:cNvSpPr/>
          <p:nvPr/>
        </p:nvSpPr>
        <p:spPr>
          <a:xfrm>
            <a:off x="5440680" y="4892040"/>
            <a:ext cx="594360" cy="182880"/>
          </a:xfrm>
          <a:prstGeom prst="rect">
            <a:avLst/>
          </a:prstGeom>
          <a:noFill/>
          <a:ln/>
        </p:spPr>
        <p:txBody>
          <a:bodyPr wrap="square" rtlCol="0" anchor="ctr"/>
          <a:lstStyle/>
          <a:p>
            <a:pPr marL="0" indent="0">
              <a:buNone/>
            </a:pPr>
            <a:r>
              <a:rPr lang="en-US" sz="900" b="1" dirty="0">
                <a:solidFill>
                  <a:srgbClr val="8899BB"/>
                </a:solidFill>
                <a:latin typeface="Calibri" pitchFamily="34" charset="0"/>
                <a:ea typeface="Calibri" pitchFamily="34" charset="-122"/>
                <a:cs typeface="Calibri" pitchFamily="34" charset="-120"/>
              </a:rPr>
              <a:t>GET</a:t>
            </a:r>
            <a:endParaRPr lang="en-US" sz="900" dirty="0"/>
          </a:p>
        </p:txBody>
      </p:sp>
      <p:sp>
        <p:nvSpPr>
          <p:cNvPr id="23" name="Text 19"/>
          <p:cNvSpPr/>
          <p:nvPr/>
        </p:nvSpPr>
        <p:spPr>
          <a:xfrm>
            <a:off x="6053328" y="4892040"/>
            <a:ext cx="2926080" cy="182880"/>
          </a:xfrm>
          <a:prstGeom prst="rect">
            <a:avLst/>
          </a:prstGeom>
          <a:noFill/>
          <a:ln/>
        </p:spPr>
        <p:txBody>
          <a:bodyPr wrap="square" rtlCol="0" anchor="ctr"/>
          <a:lstStyle/>
          <a:p>
            <a:pPr marL="0" indent="0">
              <a:buNone/>
            </a:pPr>
            <a:r>
              <a:rPr lang="en-US" sz="900" dirty="0">
                <a:solidFill>
                  <a:srgbClr val="C8D8F0"/>
                </a:solidFill>
                <a:latin typeface="Calibri" pitchFamily="34" charset="0"/>
                <a:ea typeface="Calibri" pitchFamily="34" charset="-122"/>
                <a:cs typeface="Calibri" pitchFamily="34" charset="-120"/>
              </a:rPr>
              <a:t>/api/forecast/demo</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CC71"/>
          </a:solidFill>
          <a:ln w="12700">
            <a:solidFill>
              <a:srgbClr val="2ECC71"/>
            </a:solidFill>
            <a:prstDash val="solid"/>
          </a:ln>
        </p:spPr>
        <p:txBody>
          <a:bodyPr/>
          <a:lstStyle/>
          <a:p>
            <a:endParaRPr lang="en-US"/>
          </a:p>
        </p:txBody>
      </p:sp>
      <p:sp>
        <p:nvSpPr>
          <p:cNvPr id="3" name="Text 1"/>
          <p:cNvSpPr/>
          <p:nvPr/>
        </p:nvSpPr>
        <p:spPr>
          <a:xfrm>
            <a:off x="457200" y="164592"/>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Results &amp; Key Achievements</a:t>
            </a:r>
            <a:endParaRPr lang="en-US" sz="28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marL="0" indent="0">
              <a:buNone/>
            </a:pPr>
            <a:r>
              <a:rPr lang="en-US" sz="1300" dirty="0">
                <a:solidFill>
                  <a:srgbClr val="8899BB"/>
                </a:solidFill>
                <a:latin typeface="Calibri" pitchFamily="34" charset="0"/>
                <a:ea typeface="Calibri" pitchFamily="34" charset="-122"/>
                <a:cs typeface="Calibri" pitchFamily="34" charset="-120"/>
              </a:rPr>
              <a:t>All project goals met — fully functional end-to-end system</a:t>
            </a:r>
            <a:endParaRPr lang="en-US" sz="1300" dirty="0"/>
          </a:p>
        </p:txBody>
      </p:sp>
      <p:sp>
        <p:nvSpPr>
          <p:cNvPr id="5" name="Shape 3"/>
          <p:cNvSpPr/>
          <p:nvPr/>
        </p:nvSpPr>
        <p:spPr>
          <a:xfrm>
            <a:off x="365760" y="1097280"/>
            <a:ext cx="4023360" cy="114300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6" name="Shape 4"/>
          <p:cNvSpPr/>
          <p:nvPr/>
        </p:nvSpPr>
        <p:spPr>
          <a:xfrm>
            <a:off x="365760" y="1097280"/>
            <a:ext cx="64008" cy="1143000"/>
          </a:xfrm>
          <a:prstGeom prst="rect">
            <a:avLst/>
          </a:prstGeom>
          <a:solidFill>
            <a:srgbClr val="2ECC71"/>
          </a:solidFill>
          <a:ln w="12700">
            <a:solidFill>
              <a:srgbClr val="2ECC71"/>
            </a:solidFill>
            <a:prstDash val="solid"/>
          </a:ln>
        </p:spPr>
        <p:txBody>
          <a:bodyPr/>
          <a:lstStyle/>
          <a:p>
            <a:endParaRPr lang="en-US"/>
          </a:p>
        </p:txBody>
      </p:sp>
      <p:sp>
        <p:nvSpPr>
          <p:cNvPr id="7" name="Text 5"/>
          <p:cNvSpPr/>
          <p:nvPr/>
        </p:nvSpPr>
        <p:spPr>
          <a:xfrm>
            <a:off x="548640" y="1188720"/>
            <a:ext cx="3657600" cy="320040"/>
          </a:xfrm>
          <a:prstGeom prst="rect">
            <a:avLst/>
          </a:prstGeom>
          <a:noFill/>
          <a:ln/>
        </p:spPr>
        <p:txBody>
          <a:bodyPr wrap="square" lIns="0" tIns="0" rIns="0" bIns="0" rtlCol="0" anchor="ctr"/>
          <a:lstStyle/>
          <a:p>
            <a:pPr marL="0" indent="0">
              <a:buNone/>
            </a:pPr>
            <a:r>
              <a:rPr lang="en-US" sz="1300" b="1" dirty="0">
                <a:solidFill>
                  <a:srgbClr val="2ECC71"/>
                </a:solidFill>
                <a:latin typeface="Calibri" pitchFamily="34" charset="0"/>
                <a:ea typeface="Calibri" pitchFamily="34" charset="-122"/>
                <a:cs typeface="Calibri" pitchFamily="34" charset="-120"/>
              </a:rPr>
              <a:t>✅  Model Accuracy</a:t>
            </a:r>
            <a:endParaRPr lang="en-US" sz="1300" dirty="0"/>
          </a:p>
        </p:txBody>
      </p:sp>
      <p:sp>
        <p:nvSpPr>
          <p:cNvPr id="8" name="Text 6"/>
          <p:cNvSpPr/>
          <p:nvPr/>
        </p:nvSpPr>
        <p:spPr>
          <a:xfrm>
            <a:off x="548640" y="1554480"/>
            <a:ext cx="3657600" cy="594360"/>
          </a:xfrm>
          <a:prstGeom prst="rect">
            <a:avLst/>
          </a:prstGeom>
          <a:noFill/>
          <a:ln/>
        </p:spPr>
        <p:txBody>
          <a:bodyPr wrap="square" lIns="0" tIns="0" rIns="0" bIns="0" rtlCol="0" anchor="ctr"/>
          <a:lstStyle/>
          <a:p>
            <a:pPr marL="0" indent="0">
              <a:buNone/>
            </a:pPr>
            <a:r>
              <a:rPr lang="en-US" sz="1100" dirty="0">
                <a:solidFill>
                  <a:srgbClr val="C8D8F0"/>
                </a:solidFill>
                <a:latin typeface="Calibri" pitchFamily="34" charset="0"/>
                <a:ea typeface="Calibri" pitchFamily="34" charset="-122"/>
                <a:cs typeface="Calibri" pitchFamily="34" charset="-120"/>
              </a:rPr>
              <a:t>Gradient Boosting MAPE: 19.57%</a:t>
            </a:r>
            <a:endParaRPr lang="en-US" sz="1100" dirty="0"/>
          </a:p>
          <a:p>
            <a:pPr marL="0" indent="0">
              <a:buNone/>
            </a:pPr>
            <a:r>
              <a:rPr lang="en-US" sz="1100" dirty="0">
                <a:solidFill>
                  <a:srgbClr val="C8D8F0"/>
                </a:solidFill>
                <a:latin typeface="Calibri" pitchFamily="34" charset="0"/>
                <a:ea typeface="Calibri" pitchFamily="34" charset="-122"/>
                <a:cs typeface="Calibri" pitchFamily="34" charset="-120"/>
              </a:rPr>
              <a:t>Target was below 25% — exceeded</a:t>
            </a:r>
            <a:endParaRPr lang="en-US" sz="1100" dirty="0"/>
          </a:p>
        </p:txBody>
      </p:sp>
      <p:sp>
        <p:nvSpPr>
          <p:cNvPr id="9" name="Shape 7"/>
          <p:cNvSpPr/>
          <p:nvPr/>
        </p:nvSpPr>
        <p:spPr>
          <a:xfrm>
            <a:off x="4663440" y="1097280"/>
            <a:ext cx="4023360" cy="114300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0" name="Shape 8"/>
          <p:cNvSpPr/>
          <p:nvPr/>
        </p:nvSpPr>
        <p:spPr>
          <a:xfrm>
            <a:off x="4663440" y="1097280"/>
            <a:ext cx="64008" cy="1143000"/>
          </a:xfrm>
          <a:prstGeom prst="rect">
            <a:avLst/>
          </a:prstGeom>
          <a:solidFill>
            <a:srgbClr val="4A9EFF"/>
          </a:solidFill>
          <a:ln w="12700">
            <a:solidFill>
              <a:srgbClr val="4A9EFF"/>
            </a:solidFill>
            <a:prstDash val="solid"/>
          </a:ln>
        </p:spPr>
        <p:txBody>
          <a:bodyPr/>
          <a:lstStyle/>
          <a:p>
            <a:endParaRPr lang="en-US"/>
          </a:p>
        </p:txBody>
      </p:sp>
      <p:sp>
        <p:nvSpPr>
          <p:cNvPr id="11" name="Text 9"/>
          <p:cNvSpPr/>
          <p:nvPr/>
        </p:nvSpPr>
        <p:spPr>
          <a:xfrm>
            <a:off x="4846320" y="1188720"/>
            <a:ext cx="3657600" cy="320040"/>
          </a:xfrm>
          <a:prstGeom prst="rect">
            <a:avLst/>
          </a:prstGeom>
          <a:noFill/>
          <a:ln/>
        </p:spPr>
        <p:txBody>
          <a:bodyPr wrap="square" lIns="0" tIns="0" rIns="0" bIns="0" rtlCol="0" anchor="ctr"/>
          <a:lstStyle/>
          <a:p>
            <a:pPr marL="0" indent="0">
              <a:buNone/>
            </a:pPr>
            <a:r>
              <a:rPr lang="en-US" sz="1300" b="1" dirty="0">
                <a:solidFill>
                  <a:srgbClr val="4A9EFF"/>
                </a:solidFill>
                <a:latin typeface="Calibri" pitchFamily="34" charset="0"/>
                <a:ea typeface="Calibri" pitchFamily="34" charset="-122"/>
                <a:cs typeface="Calibri" pitchFamily="34" charset="-120"/>
              </a:rPr>
              <a:t>✅  Full Stack App</a:t>
            </a:r>
            <a:endParaRPr lang="en-US" sz="1300" dirty="0"/>
          </a:p>
        </p:txBody>
      </p:sp>
      <p:sp>
        <p:nvSpPr>
          <p:cNvPr id="12" name="Text 10"/>
          <p:cNvSpPr/>
          <p:nvPr/>
        </p:nvSpPr>
        <p:spPr>
          <a:xfrm>
            <a:off x="4846320" y="1554480"/>
            <a:ext cx="3657600" cy="594360"/>
          </a:xfrm>
          <a:prstGeom prst="rect">
            <a:avLst/>
          </a:prstGeom>
          <a:noFill/>
          <a:ln/>
        </p:spPr>
        <p:txBody>
          <a:bodyPr wrap="square" lIns="0" tIns="0" rIns="0" bIns="0" rtlCol="0" anchor="ctr"/>
          <a:lstStyle/>
          <a:p>
            <a:pPr marL="0" indent="0">
              <a:buNone/>
            </a:pPr>
            <a:r>
              <a:rPr lang="en-US" sz="1100" dirty="0">
                <a:solidFill>
                  <a:srgbClr val="C8D8F0"/>
                </a:solidFill>
                <a:latin typeface="Calibri" pitchFamily="34" charset="0"/>
                <a:ea typeface="Calibri" pitchFamily="34" charset="-122"/>
                <a:cs typeface="Calibri" pitchFamily="34" charset="-120"/>
              </a:rPr>
              <a:t>React (port 3000) + FastAPI (port 8000)</a:t>
            </a:r>
            <a:endParaRPr lang="en-US" sz="1100" dirty="0"/>
          </a:p>
          <a:p>
            <a:pPr marL="0" indent="0">
              <a:buNone/>
            </a:pPr>
            <a:r>
              <a:rPr lang="en-US" sz="1100" dirty="0">
                <a:solidFill>
                  <a:srgbClr val="C8D8F0"/>
                </a:solidFill>
                <a:latin typeface="Calibri" pitchFamily="34" charset="0"/>
                <a:ea typeface="Calibri" pitchFamily="34" charset="-122"/>
                <a:cs typeface="Calibri" pitchFamily="34" charset="-120"/>
              </a:rPr>
              <a:t>Full integration working</a:t>
            </a:r>
            <a:endParaRPr lang="en-US" sz="1100" dirty="0"/>
          </a:p>
        </p:txBody>
      </p:sp>
      <p:sp>
        <p:nvSpPr>
          <p:cNvPr id="13" name="Shape 11"/>
          <p:cNvSpPr/>
          <p:nvPr/>
        </p:nvSpPr>
        <p:spPr>
          <a:xfrm>
            <a:off x="365760" y="2377440"/>
            <a:ext cx="4023360" cy="114300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4" name="Shape 12"/>
          <p:cNvSpPr/>
          <p:nvPr/>
        </p:nvSpPr>
        <p:spPr>
          <a:xfrm>
            <a:off x="365760" y="2377440"/>
            <a:ext cx="64008" cy="1143000"/>
          </a:xfrm>
          <a:prstGeom prst="rect">
            <a:avLst/>
          </a:prstGeom>
          <a:solidFill>
            <a:srgbClr val="F47B20"/>
          </a:solidFill>
          <a:ln w="12700">
            <a:solidFill>
              <a:srgbClr val="F47B20"/>
            </a:solidFill>
            <a:prstDash val="solid"/>
          </a:ln>
        </p:spPr>
        <p:txBody>
          <a:bodyPr/>
          <a:lstStyle/>
          <a:p>
            <a:endParaRPr lang="en-US"/>
          </a:p>
        </p:txBody>
      </p:sp>
      <p:sp>
        <p:nvSpPr>
          <p:cNvPr id="15" name="Text 13"/>
          <p:cNvSpPr/>
          <p:nvPr/>
        </p:nvSpPr>
        <p:spPr>
          <a:xfrm>
            <a:off x="548640" y="2468880"/>
            <a:ext cx="3657600" cy="320040"/>
          </a:xfrm>
          <a:prstGeom prst="rect">
            <a:avLst/>
          </a:prstGeom>
          <a:noFill/>
          <a:ln/>
        </p:spPr>
        <p:txBody>
          <a:bodyPr wrap="square" lIns="0" tIns="0" rIns="0" bIns="0" rtlCol="0" anchor="ctr"/>
          <a:lstStyle/>
          <a:p>
            <a:pPr marL="0" indent="0">
              <a:buNone/>
            </a:pPr>
            <a:r>
              <a:rPr lang="en-US" sz="1300" b="1" dirty="0">
                <a:solidFill>
                  <a:srgbClr val="F47B20"/>
                </a:solidFill>
                <a:latin typeface="Calibri" pitchFamily="34" charset="0"/>
                <a:ea typeface="Calibri" pitchFamily="34" charset="-122"/>
                <a:cs typeface="Calibri" pitchFamily="34" charset="-120"/>
              </a:rPr>
              <a:t>✅  5 API Endpoints</a:t>
            </a:r>
            <a:endParaRPr lang="en-US" sz="1300" dirty="0"/>
          </a:p>
        </p:txBody>
      </p:sp>
      <p:sp>
        <p:nvSpPr>
          <p:cNvPr id="16" name="Text 14"/>
          <p:cNvSpPr/>
          <p:nvPr/>
        </p:nvSpPr>
        <p:spPr>
          <a:xfrm>
            <a:off x="548640" y="2834640"/>
            <a:ext cx="3657600" cy="594360"/>
          </a:xfrm>
          <a:prstGeom prst="rect">
            <a:avLst/>
          </a:prstGeom>
          <a:noFill/>
          <a:ln/>
        </p:spPr>
        <p:txBody>
          <a:bodyPr wrap="square" lIns="0" tIns="0" rIns="0" bIns="0" rtlCol="0" anchor="ctr"/>
          <a:lstStyle/>
          <a:p>
            <a:pPr marL="0" indent="0">
              <a:buNone/>
            </a:pPr>
            <a:r>
              <a:rPr lang="en-US" sz="1100" dirty="0">
                <a:solidFill>
                  <a:srgbClr val="C8D8F0"/>
                </a:solidFill>
                <a:latin typeface="Calibri" pitchFamily="34" charset="0"/>
                <a:ea typeface="Calibri" pitchFamily="34" charset="-122"/>
                <a:cs typeface="Calibri" pitchFamily="34" charset="-120"/>
              </a:rPr>
              <a:t>Upload, Forecast, Inventory,</a:t>
            </a:r>
            <a:endParaRPr lang="en-US" sz="1100" dirty="0"/>
          </a:p>
          <a:p>
            <a:pPr marL="0" indent="0">
              <a:buNone/>
            </a:pPr>
            <a:r>
              <a:rPr lang="en-US" sz="1100" dirty="0">
                <a:solidFill>
                  <a:srgbClr val="C8D8F0"/>
                </a:solidFill>
                <a:latin typeface="Calibri" pitchFamily="34" charset="0"/>
                <a:ea typeface="Calibri" pitchFamily="34" charset="-122"/>
                <a:cs typeface="Calibri" pitchFamily="34" charset="-120"/>
              </a:rPr>
              <a:t>Dashboard, Demo — all live</a:t>
            </a:r>
            <a:endParaRPr lang="en-US" sz="1100" dirty="0"/>
          </a:p>
        </p:txBody>
      </p:sp>
      <p:sp>
        <p:nvSpPr>
          <p:cNvPr id="17" name="Shape 15"/>
          <p:cNvSpPr/>
          <p:nvPr/>
        </p:nvSpPr>
        <p:spPr>
          <a:xfrm>
            <a:off x="4663440" y="2377440"/>
            <a:ext cx="4023360" cy="114300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8" name="Shape 16"/>
          <p:cNvSpPr/>
          <p:nvPr/>
        </p:nvSpPr>
        <p:spPr>
          <a:xfrm>
            <a:off x="4663440" y="2377440"/>
            <a:ext cx="64008" cy="1143000"/>
          </a:xfrm>
          <a:prstGeom prst="rect">
            <a:avLst/>
          </a:prstGeom>
          <a:solidFill>
            <a:srgbClr val="F47B20"/>
          </a:solidFill>
          <a:ln w="12700">
            <a:solidFill>
              <a:srgbClr val="F47B20"/>
            </a:solidFill>
            <a:prstDash val="solid"/>
          </a:ln>
        </p:spPr>
        <p:txBody>
          <a:bodyPr/>
          <a:lstStyle/>
          <a:p>
            <a:endParaRPr lang="en-US"/>
          </a:p>
        </p:txBody>
      </p:sp>
      <p:sp>
        <p:nvSpPr>
          <p:cNvPr id="19" name="Text 17"/>
          <p:cNvSpPr/>
          <p:nvPr/>
        </p:nvSpPr>
        <p:spPr>
          <a:xfrm>
            <a:off x="4846320" y="2468880"/>
            <a:ext cx="3657600" cy="320040"/>
          </a:xfrm>
          <a:prstGeom prst="rect">
            <a:avLst/>
          </a:prstGeom>
          <a:noFill/>
          <a:ln/>
        </p:spPr>
        <p:txBody>
          <a:bodyPr wrap="square" lIns="0" tIns="0" rIns="0" bIns="0" rtlCol="0" anchor="ctr"/>
          <a:lstStyle/>
          <a:p>
            <a:pPr marL="0" indent="0">
              <a:buNone/>
            </a:pPr>
            <a:r>
              <a:rPr lang="en-US" sz="1300" b="1" dirty="0">
                <a:solidFill>
                  <a:srgbClr val="F47B20"/>
                </a:solidFill>
                <a:latin typeface="Calibri" pitchFamily="34" charset="0"/>
                <a:ea typeface="Calibri" pitchFamily="34" charset="-122"/>
                <a:cs typeface="Calibri" pitchFamily="34" charset="-120"/>
              </a:rPr>
              <a:t>✅  Inventory Engine</a:t>
            </a:r>
            <a:endParaRPr lang="en-US" sz="1300" dirty="0"/>
          </a:p>
        </p:txBody>
      </p:sp>
      <p:sp>
        <p:nvSpPr>
          <p:cNvPr id="20" name="Text 18"/>
          <p:cNvSpPr/>
          <p:nvPr/>
        </p:nvSpPr>
        <p:spPr>
          <a:xfrm>
            <a:off x="4846320" y="2834640"/>
            <a:ext cx="3657600" cy="594360"/>
          </a:xfrm>
          <a:prstGeom prst="rect">
            <a:avLst/>
          </a:prstGeom>
          <a:noFill/>
          <a:ln/>
        </p:spPr>
        <p:txBody>
          <a:bodyPr wrap="square" lIns="0" tIns="0" rIns="0" bIns="0" rtlCol="0" anchor="ctr"/>
          <a:lstStyle/>
          <a:p>
            <a:pPr marL="0" indent="0">
              <a:buNone/>
            </a:pPr>
            <a:r>
              <a:rPr lang="en-US" sz="1100" dirty="0">
                <a:solidFill>
                  <a:srgbClr val="C8D8F0"/>
                </a:solidFill>
                <a:latin typeface="Calibri" pitchFamily="34" charset="0"/>
                <a:ea typeface="Calibri" pitchFamily="34" charset="-122"/>
                <a:cs typeface="Calibri" pitchFamily="34" charset="-120"/>
              </a:rPr>
              <a:t>EOQ = 5,591 units</a:t>
            </a:r>
            <a:endParaRPr lang="en-US" sz="1100" dirty="0"/>
          </a:p>
          <a:p>
            <a:pPr marL="0" indent="0">
              <a:buNone/>
            </a:pPr>
            <a:r>
              <a:rPr lang="en-US" sz="1100" dirty="0">
                <a:solidFill>
                  <a:srgbClr val="C8D8F0"/>
                </a:solidFill>
                <a:latin typeface="Calibri" pitchFamily="34" charset="0"/>
                <a:ea typeface="Calibri" pitchFamily="34" charset="-122"/>
                <a:cs typeface="Calibri" pitchFamily="34" charset="-120"/>
              </a:rPr>
              <a:t>Safety Stock = 6,838 | ROP = 22,034</a:t>
            </a:r>
            <a:endParaRPr lang="en-US" sz="1100" dirty="0"/>
          </a:p>
        </p:txBody>
      </p:sp>
      <p:sp>
        <p:nvSpPr>
          <p:cNvPr id="21" name="Shape 19"/>
          <p:cNvSpPr/>
          <p:nvPr/>
        </p:nvSpPr>
        <p:spPr>
          <a:xfrm>
            <a:off x="365760" y="3657600"/>
            <a:ext cx="4023360" cy="114300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22" name="Shape 20"/>
          <p:cNvSpPr/>
          <p:nvPr/>
        </p:nvSpPr>
        <p:spPr>
          <a:xfrm>
            <a:off x="365760" y="3657600"/>
            <a:ext cx="64008" cy="1143000"/>
          </a:xfrm>
          <a:prstGeom prst="rect">
            <a:avLst/>
          </a:prstGeom>
          <a:solidFill>
            <a:srgbClr val="4A9EFF"/>
          </a:solidFill>
          <a:ln w="12700">
            <a:solidFill>
              <a:srgbClr val="4A9EFF"/>
            </a:solidFill>
            <a:prstDash val="solid"/>
          </a:ln>
        </p:spPr>
        <p:txBody>
          <a:bodyPr/>
          <a:lstStyle/>
          <a:p>
            <a:endParaRPr lang="en-US"/>
          </a:p>
        </p:txBody>
      </p:sp>
      <p:sp>
        <p:nvSpPr>
          <p:cNvPr id="23" name="Text 21"/>
          <p:cNvSpPr/>
          <p:nvPr/>
        </p:nvSpPr>
        <p:spPr>
          <a:xfrm>
            <a:off x="548640" y="3749040"/>
            <a:ext cx="3657600" cy="320040"/>
          </a:xfrm>
          <a:prstGeom prst="rect">
            <a:avLst/>
          </a:prstGeom>
          <a:noFill/>
          <a:ln/>
        </p:spPr>
        <p:txBody>
          <a:bodyPr wrap="square" lIns="0" tIns="0" rIns="0" bIns="0" rtlCol="0" anchor="ctr"/>
          <a:lstStyle/>
          <a:p>
            <a:pPr marL="0" indent="0">
              <a:buNone/>
            </a:pPr>
            <a:r>
              <a:rPr lang="en-US" sz="1300" b="1" dirty="0">
                <a:solidFill>
                  <a:srgbClr val="4A9EFF"/>
                </a:solidFill>
                <a:latin typeface="Calibri" pitchFamily="34" charset="0"/>
                <a:ea typeface="Calibri" pitchFamily="34" charset="-122"/>
                <a:cs typeface="Calibri" pitchFamily="34" charset="-120"/>
              </a:rPr>
              <a:t>✅  Real CSV Upload</a:t>
            </a:r>
            <a:endParaRPr lang="en-US" sz="1300" dirty="0"/>
          </a:p>
        </p:txBody>
      </p:sp>
      <p:sp>
        <p:nvSpPr>
          <p:cNvPr id="24" name="Text 22"/>
          <p:cNvSpPr/>
          <p:nvPr/>
        </p:nvSpPr>
        <p:spPr>
          <a:xfrm>
            <a:off x="548640" y="4114800"/>
            <a:ext cx="3657600" cy="594360"/>
          </a:xfrm>
          <a:prstGeom prst="rect">
            <a:avLst/>
          </a:prstGeom>
          <a:noFill/>
          <a:ln/>
        </p:spPr>
        <p:txBody>
          <a:bodyPr wrap="square" lIns="0" tIns="0" rIns="0" bIns="0" rtlCol="0" anchor="ctr"/>
          <a:lstStyle/>
          <a:p>
            <a:pPr marL="0" indent="0">
              <a:buNone/>
            </a:pPr>
            <a:r>
              <a:rPr lang="en-US" sz="1100" dirty="0">
                <a:solidFill>
                  <a:srgbClr val="C8D8F0"/>
                </a:solidFill>
                <a:latin typeface="Calibri" pitchFamily="34" charset="0"/>
                <a:ea typeface="Calibri" pitchFamily="34" charset="-122"/>
                <a:cs typeface="Calibri" pitchFamily="34" charset="-120"/>
              </a:rPr>
              <a:t>Upload any Superstore-format CSV</a:t>
            </a:r>
            <a:endParaRPr lang="en-US" sz="1100" dirty="0"/>
          </a:p>
          <a:p>
            <a:pPr marL="0" indent="0">
              <a:buNone/>
            </a:pPr>
            <a:r>
              <a:rPr lang="en-US" sz="1100" dirty="0">
                <a:solidFill>
                  <a:srgbClr val="C8D8F0"/>
                </a:solidFill>
                <a:latin typeface="Calibri" pitchFamily="34" charset="0"/>
                <a:ea typeface="Calibri" pitchFamily="34" charset="-122"/>
                <a:cs typeface="Calibri" pitchFamily="34" charset="-120"/>
              </a:rPr>
              <a:t>Get fresh forecast in seconds</a:t>
            </a:r>
            <a:endParaRPr lang="en-US" sz="1100" dirty="0"/>
          </a:p>
        </p:txBody>
      </p:sp>
      <p:sp>
        <p:nvSpPr>
          <p:cNvPr id="25" name="Shape 23"/>
          <p:cNvSpPr/>
          <p:nvPr/>
        </p:nvSpPr>
        <p:spPr>
          <a:xfrm>
            <a:off x="4663440" y="3657600"/>
            <a:ext cx="4023360" cy="114300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26" name="Shape 24"/>
          <p:cNvSpPr/>
          <p:nvPr/>
        </p:nvSpPr>
        <p:spPr>
          <a:xfrm>
            <a:off x="4663440" y="3657600"/>
            <a:ext cx="64008" cy="1143000"/>
          </a:xfrm>
          <a:prstGeom prst="rect">
            <a:avLst/>
          </a:prstGeom>
          <a:solidFill>
            <a:srgbClr val="2ECC71"/>
          </a:solidFill>
          <a:ln w="12700">
            <a:solidFill>
              <a:srgbClr val="2ECC71"/>
            </a:solidFill>
            <a:prstDash val="solid"/>
          </a:ln>
        </p:spPr>
        <p:txBody>
          <a:bodyPr/>
          <a:lstStyle/>
          <a:p>
            <a:endParaRPr lang="en-US"/>
          </a:p>
        </p:txBody>
      </p:sp>
      <p:sp>
        <p:nvSpPr>
          <p:cNvPr id="27" name="Text 25"/>
          <p:cNvSpPr/>
          <p:nvPr/>
        </p:nvSpPr>
        <p:spPr>
          <a:xfrm>
            <a:off x="4846320" y="3749040"/>
            <a:ext cx="3657600" cy="320040"/>
          </a:xfrm>
          <a:prstGeom prst="rect">
            <a:avLst/>
          </a:prstGeom>
          <a:noFill/>
          <a:ln/>
        </p:spPr>
        <p:txBody>
          <a:bodyPr wrap="square" lIns="0" tIns="0" rIns="0" bIns="0" rtlCol="0" anchor="ctr"/>
          <a:lstStyle/>
          <a:p>
            <a:pPr marL="0" indent="0">
              <a:buNone/>
            </a:pPr>
            <a:r>
              <a:rPr lang="en-US" sz="1300" b="1" dirty="0">
                <a:solidFill>
                  <a:srgbClr val="2ECC71"/>
                </a:solidFill>
                <a:latin typeface="Calibri" pitchFamily="34" charset="0"/>
                <a:ea typeface="Calibri" pitchFamily="34" charset="-122"/>
                <a:cs typeface="Calibri" pitchFamily="34" charset="-120"/>
              </a:rPr>
              <a:t>✅  Live Dashboard</a:t>
            </a:r>
            <a:endParaRPr lang="en-US" sz="1300" dirty="0"/>
          </a:p>
        </p:txBody>
      </p:sp>
      <p:sp>
        <p:nvSpPr>
          <p:cNvPr id="28" name="Text 26"/>
          <p:cNvSpPr/>
          <p:nvPr/>
        </p:nvSpPr>
        <p:spPr>
          <a:xfrm>
            <a:off x="4846320" y="4114800"/>
            <a:ext cx="3657600" cy="594360"/>
          </a:xfrm>
          <a:prstGeom prst="rect">
            <a:avLst/>
          </a:prstGeom>
          <a:noFill/>
          <a:ln/>
        </p:spPr>
        <p:txBody>
          <a:bodyPr wrap="square" lIns="0" tIns="0" rIns="0" bIns="0" rtlCol="0" anchor="ctr"/>
          <a:lstStyle/>
          <a:p>
            <a:pPr marL="0" indent="0">
              <a:buNone/>
            </a:pPr>
            <a:r>
              <a:rPr lang="en-US" sz="1100" dirty="0">
                <a:solidFill>
                  <a:srgbClr val="C8D8F0"/>
                </a:solidFill>
                <a:latin typeface="Calibri" pitchFamily="34" charset="0"/>
                <a:ea typeface="Calibri" pitchFamily="34" charset="-122"/>
                <a:cs typeface="Calibri" pitchFamily="34" charset="-120"/>
              </a:rPr>
              <a:t>KPI cards, chart, gauge, alerts</a:t>
            </a:r>
            <a:endParaRPr lang="en-US" sz="1100" dirty="0"/>
          </a:p>
          <a:p>
            <a:pPr marL="0" indent="0">
              <a:buNone/>
            </a:pPr>
            <a:r>
              <a:rPr lang="en-US" sz="1100" dirty="0">
                <a:solidFill>
                  <a:srgbClr val="C8D8F0"/>
                </a:solidFill>
                <a:latin typeface="Calibri" pitchFamily="34" charset="0"/>
                <a:ea typeface="Calibri" pitchFamily="34" charset="-122"/>
                <a:cs typeface="Calibri" pitchFamily="34" charset="-120"/>
              </a:rPr>
              <a:t>Model comparison — all rendered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4A9EFF"/>
          </a:solidFill>
          <a:ln w="12700">
            <a:solidFill>
              <a:srgbClr val="4A9EFF"/>
            </a:solidFill>
            <a:prstDash val="solid"/>
          </a:ln>
        </p:spPr>
        <p:txBody>
          <a:bodyPr/>
          <a:lstStyle/>
          <a:p>
            <a:endParaRPr lang="en-US"/>
          </a:p>
        </p:txBody>
      </p:sp>
      <p:sp>
        <p:nvSpPr>
          <p:cNvPr id="3" name="Text 1"/>
          <p:cNvSpPr/>
          <p:nvPr/>
        </p:nvSpPr>
        <p:spPr>
          <a:xfrm>
            <a:off x="365760" y="228600"/>
            <a:ext cx="8412480" cy="5029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 &amp; Future Work</a:t>
            </a:r>
            <a:endParaRPr lang="en-US" sz="2800" dirty="0"/>
          </a:p>
        </p:txBody>
      </p:sp>
      <p:sp>
        <p:nvSpPr>
          <p:cNvPr id="4" name="Shape 2"/>
          <p:cNvSpPr/>
          <p:nvPr/>
        </p:nvSpPr>
        <p:spPr>
          <a:xfrm>
            <a:off x="365760" y="914400"/>
            <a:ext cx="4114800" cy="347472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5" name="Shape 3"/>
          <p:cNvSpPr/>
          <p:nvPr/>
        </p:nvSpPr>
        <p:spPr>
          <a:xfrm>
            <a:off x="365760" y="914400"/>
            <a:ext cx="4114800" cy="64008"/>
          </a:xfrm>
          <a:prstGeom prst="rect">
            <a:avLst/>
          </a:prstGeom>
          <a:solidFill>
            <a:srgbClr val="2ECC71"/>
          </a:solidFill>
          <a:ln w="12700">
            <a:solidFill>
              <a:srgbClr val="2ECC71"/>
            </a:solidFill>
            <a:prstDash val="solid"/>
          </a:ln>
        </p:spPr>
        <p:txBody>
          <a:bodyPr/>
          <a:lstStyle/>
          <a:p>
            <a:endParaRPr lang="en-US"/>
          </a:p>
        </p:txBody>
      </p:sp>
      <p:sp>
        <p:nvSpPr>
          <p:cNvPr id="6" name="Text 4"/>
          <p:cNvSpPr/>
          <p:nvPr/>
        </p:nvSpPr>
        <p:spPr>
          <a:xfrm>
            <a:off x="548640" y="1051560"/>
            <a:ext cx="3749040" cy="320040"/>
          </a:xfrm>
          <a:prstGeom prst="rect">
            <a:avLst/>
          </a:prstGeom>
          <a:noFill/>
          <a:ln/>
        </p:spPr>
        <p:txBody>
          <a:bodyPr wrap="square" rtlCol="0" anchor="ctr"/>
          <a:lstStyle/>
          <a:p>
            <a:pPr marL="0" indent="0">
              <a:buNone/>
            </a:pPr>
            <a:r>
              <a:rPr lang="en-US" sz="1500" b="1" dirty="0">
                <a:solidFill>
                  <a:srgbClr val="2ECC71"/>
                </a:solidFill>
                <a:latin typeface="Calibri" pitchFamily="34" charset="0"/>
                <a:ea typeface="Calibri" pitchFamily="34" charset="-122"/>
                <a:cs typeface="Calibri" pitchFamily="34" charset="-120"/>
              </a:rPr>
              <a:t>What We Delivered</a:t>
            </a:r>
            <a:endParaRPr lang="en-US" sz="1500" dirty="0"/>
          </a:p>
        </p:txBody>
      </p:sp>
      <p:sp>
        <p:nvSpPr>
          <p:cNvPr id="7" name="Text 5"/>
          <p:cNvSpPr/>
          <p:nvPr/>
        </p:nvSpPr>
        <p:spPr>
          <a:xfrm>
            <a:off x="548640" y="1481328"/>
            <a:ext cx="3749040" cy="320040"/>
          </a:xfrm>
          <a:prstGeom prst="rect">
            <a:avLst/>
          </a:prstGeom>
          <a:noFill/>
          <a:ln/>
        </p:spPr>
        <p:txBody>
          <a:bodyPr wrap="square" rtlCol="0" anchor="ctr"/>
          <a:lstStyle/>
          <a:p>
            <a:pPr marL="0" indent="0">
              <a:buNone/>
            </a:pPr>
            <a:r>
              <a:rPr lang="en-US" sz="1100" dirty="0">
                <a:solidFill>
                  <a:srgbClr val="C8D8F0"/>
                </a:solidFill>
                <a:latin typeface="Calibri" pitchFamily="34" charset="0"/>
                <a:ea typeface="Calibri" pitchFamily="34" charset="-122"/>
                <a:cs typeface="Calibri" pitchFamily="34" charset="-120"/>
              </a:rPr>
              <a:t>▸  Complete AI demand forecasting system</a:t>
            </a:r>
            <a:endParaRPr lang="en-US" sz="1100" dirty="0"/>
          </a:p>
        </p:txBody>
      </p:sp>
      <p:sp>
        <p:nvSpPr>
          <p:cNvPr id="8" name="Text 6"/>
          <p:cNvSpPr/>
          <p:nvPr/>
        </p:nvSpPr>
        <p:spPr>
          <a:xfrm>
            <a:off x="548640" y="1865376"/>
            <a:ext cx="3749040" cy="320040"/>
          </a:xfrm>
          <a:prstGeom prst="rect">
            <a:avLst/>
          </a:prstGeom>
          <a:noFill/>
          <a:ln/>
        </p:spPr>
        <p:txBody>
          <a:bodyPr wrap="square" rtlCol="0" anchor="ctr"/>
          <a:lstStyle/>
          <a:p>
            <a:pPr marL="0" indent="0">
              <a:buNone/>
            </a:pPr>
            <a:r>
              <a:rPr lang="en-US" sz="1100" dirty="0">
                <a:solidFill>
                  <a:srgbClr val="C8D8F0"/>
                </a:solidFill>
                <a:latin typeface="Calibri" pitchFamily="34" charset="0"/>
                <a:ea typeface="Calibri" pitchFamily="34" charset="-122"/>
                <a:cs typeface="Calibri" pitchFamily="34" charset="-120"/>
              </a:rPr>
              <a:t>▸  ARIMA + Gradient Boosting models trained</a:t>
            </a:r>
            <a:endParaRPr lang="en-US" sz="1100" dirty="0"/>
          </a:p>
        </p:txBody>
      </p:sp>
      <p:sp>
        <p:nvSpPr>
          <p:cNvPr id="9" name="Text 7"/>
          <p:cNvSpPr/>
          <p:nvPr/>
        </p:nvSpPr>
        <p:spPr>
          <a:xfrm>
            <a:off x="548640" y="2249424"/>
            <a:ext cx="3749040" cy="320040"/>
          </a:xfrm>
          <a:prstGeom prst="rect">
            <a:avLst/>
          </a:prstGeom>
          <a:noFill/>
          <a:ln/>
        </p:spPr>
        <p:txBody>
          <a:bodyPr wrap="square" rtlCol="0" anchor="ctr"/>
          <a:lstStyle/>
          <a:p>
            <a:pPr marL="0" indent="0">
              <a:buNone/>
            </a:pPr>
            <a:r>
              <a:rPr lang="en-US" sz="1100" dirty="0">
                <a:solidFill>
                  <a:srgbClr val="C8D8F0"/>
                </a:solidFill>
                <a:latin typeface="Calibri" pitchFamily="34" charset="0"/>
                <a:ea typeface="Calibri" pitchFamily="34" charset="-122"/>
                <a:cs typeface="Calibri" pitchFamily="34" charset="-120"/>
              </a:rPr>
              <a:t>▸  FastAPI backend with 5 REST endpoints</a:t>
            </a:r>
            <a:endParaRPr lang="en-US" sz="1100" dirty="0"/>
          </a:p>
        </p:txBody>
      </p:sp>
      <p:sp>
        <p:nvSpPr>
          <p:cNvPr id="10" name="Text 8"/>
          <p:cNvSpPr/>
          <p:nvPr/>
        </p:nvSpPr>
        <p:spPr>
          <a:xfrm>
            <a:off x="548640" y="2633472"/>
            <a:ext cx="3749040" cy="320040"/>
          </a:xfrm>
          <a:prstGeom prst="rect">
            <a:avLst/>
          </a:prstGeom>
          <a:noFill/>
          <a:ln/>
        </p:spPr>
        <p:txBody>
          <a:bodyPr wrap="square" rtlCol="0" anchor="ctr"/>
          <a:lstStyle/>
          <a:p>
            <a:pPr marL="0" indent="0">
              <a:buNone/>
            </a:pPr>
            <a:r>
              <a:rPr lang="en-US" sz="1100" dirty="0">
                <a:solidFill>
                  <a:srgbClr val="C8D8F0"/>
                </a:solidFill>
                <a:latin typeface="Calibri" pitchFamily="34" charset="0"/>
                <a:ea typeface="Calibri" pitchFamily="34" charset="-122"/>
                <a:cs typeface="Calibri" pitchFamily="34" charset="-120"/>
              </a:rPr>
              <a:t>▸  React dashboard with real-time updates</a:t>
            </a:r>
            <a:endParaRPr lang="en-US" sz="1100" dirty="0"/>
          </a:p>
        </p:txBody>
      </p:sp>
      <p:sp>
        <p:nvSpPr>
          <p:cNvPr id="11" name="Text 9"/>
          <p:cNvSpPr/>
          <p:nvPr/>
        </p:nvSpPr>
        <p:spPr>
          <a:xfrm>
            <a:off x="548640" y="3017520"/>
            <a:ext cx="3749040" cy="320040"/>
          </a:xfrm>
          <a:prstGeom prst="rect">
            <a:avLst/>
          </a:prstGeom>
          <a:noFill/>
          <a:ln/>
        </p:spPr>
        <p:txBody>
          <a:bodyPr wrap="square" rtlCol="0" anchor="ctr"/>
          <a:lstStyle/>
          <a:p>
            <a:pPr marL="0" indent="0">
              <a:buNone/>
            </a:pPr>
            <a:r>
              <a:rPr lang="en-US" sz="1100" dirty="0">
                <a:solidFill>
                  <a:srgbClr val="C8D8F0"/>
                </a:solidFill>
                <a:latin typeface="Calibri" pitchFamily="34" charset="0"/>
                <a:ea typeface="Calibri" pitchFamily="34" charset="-122"/>
                <a:cs typeface="Calibri" pitchFamily="34" charset="-120"/>
              </a:rPr>
              <a:t>▸  CSV upload triggers live AI inference</a:t>
            </a:r>
            <a:endParaRPr lang="en-US" sz="1100" dirty="0"/>
          </a:p>
        </p:txBody>
      </p:sp>
      <p:sp>
        <p:nvSpPr>
          <p:cNvPr id="12" name="Text 10"/>
          <p:cNvSpPr/>
          <p:nvPr/>
        </p:nvSpPr>
        <p:spPr>
          <a:xfrm>
            <a:off x="548640" y="3401568"/>
            <a:ext cx="3749040" cy="320040"/>
          </a:xfrm>
          <a:prstGeom prst="rect">
            <a:avLst/>
          </a:prstGeom>
          <a:noFill/>
          <a:ln/>
        </p:spPr>
        <p:txBody>
          <a:bodyPr wrap="square" rtlCol="0" anchor="ctr"/>
          <a:lstStyle/>
          <a:p>
            <a:pPr marL="0" indent="0">
              <a:buNone/>
            </a:pPr>
            <a:r>
              <a:rPr lang="en-US" sz="1100" dirty="0">
                <a:solidFill>
                  <a:srgbClr val="C8D8F0"/>
                </a:solidFill>
                <a:latin typeface="Calibri" pitchFamily="34" charset="0"/>
                <a:ea typeface="Calibri" pitchFamily="34" charset="-122"/>
                <a:cs typeface="Calibri" pitchFamily="34" charset="-120"/>
              </a:rPr>
              <a:t>▸  EOQ, Safety Stock, ROP all computed</a:t>
            </a:r>
            <a:endParaRPr lang="en-US" sz="1100" dirty="0"/>
          </a:p>
        </p:txBody>
      </p:sp>
      <p:sp>
        <p:nvSpPr>
          <p:cNvPr id="13" name="Text 11"/>
          <p:cNvSpPr/>
          <p:nvPr/>
        </p:nvSpPr>
        <p:spPr>
          <a:xfrm>
            <a:off x="548640" y="3785616"/>
            <a:ext cx="3749040" cy="320040"/>
          </a:xfrm>
          <a:prstGeom prst="rect">
            <a:avLst/>
          </a:prstGeom>
          <a:noFill/>
          <a:ln/>
        </p:spPr>
        <p:txBody>
          <a:bodyPr wrap="square" rtlCol="0" anchor="ctr"/>
          <a:lstStyle/>
          <a:p>
            <a:pPr marL="0" indent="0">
              <a:buNone/>
            </a:pPr>
            <a:r>
              <a:rPr lang="en-US" sz="1100" dirty="0">
                <a:solidFill>
                  <a:srgbClr val="C8D8F0"/>
                </a:solidFill>
                <a:latin typeface="Calibri" pitchFamily="34" charset="0"/>
                <a:ea typeface="Calibri" pitchFamily="34" charset="-122"/>
                <a:cs typeface="Calibri" pitchFamily="34" charset="-120"/>
              </a:rPr>
              <a:t>▸  80.4% model accuracy on real retail data</a:t>
            </a:r>
            <a:endParaRPr lang="en-US" sz="1100" dirty="0"/>
          </a:p>
        </p:txBody>
      </p:sp>
      <p:sp>
        <p:nvSpPr>
          <p:cNvPr id="14" name="Shape 12"/>
          <p:cNvSpPr/>
          <p:nvPr/>
        </p:nvSpPr>
        <p:spPr>
          <a:xfrm>
            <a:off x="4754880" y="914400"/>
            <a:ext cx="4114800" cy="3474720"/>
          </a:xfrm>
          <a:prstGeom prst="rect">
            <a:avLst/>
          </a:prstGeom>
          <a:solidFill>
            <a:srgbClr val="1A2744"/>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15" name="Shape 13"/>
          <p:cNvSpPr/>
          <p:nvPr/>
        </p:nvSpPr>
        <p:spPr>
          <a:xfrm>
            <a:off x="4754880" y="914400"/>
            <a:ext cx="4114800" cy="64008"/>
          </a:xfrm>
          <a:prstGeom prst="rect">
            <a:avLst/>
          </a:prstGeom>
          <a:solidFill>
            <a:srgbClr val="4A9EFF"/>
          </a:solidFill>
          <a:ln w="12700">
            <a:solidFill>
              <a:srgbClr val="4A9EFF"/>
            </a:solidFill>
            <a:prstDash val="solid"/>
          </a:ln>
        </p:spPr>
        <p:txBody>
          <a:bodyPr/>
          <a:lstStyle/>
          <a:p>
            <a:endParaRPr lang="en-US"/>
          </a:p>
        </p:txBody>
      </p:sp>
      <p:sp>
        <p:nvSpPr>
          <p:cNvPr id="16" name="Text 14"/>
          <p:cNvSpPr/>
          <p:nvPr/>
        </p:nvSpPr>
        <p:spPr>
          <a:xfrm>
            <a:off x="4937760" y="1051560"/>
            <a:ext cx="3749040" cy="320040"/>
          </a:xfrm>
          <a:prstGeom prst="rect">
            <a:avLst/>
          </a:prstGeom>
          <a:noFill/>
          <a:ln/>
        </p:spPr>
        <p:txBody>
          <a:bodyPr wrap="square" rtlCol="0" anchor="ctr"/>
          <a:lstStyle/>
          <a:p>
            <a:pPr marL="0" indent="0">
              <a:buNone/>
            </a:pPr>
            <a:r>
              <a:rPr lang="en-US" sz="1500" b="1" dirty="0">
                <a:solidFill>
                  <a:srgbClr val="4A9EFF"/>
                </a:solidFill>
                <a:latin typeface="Calibri" pitchFamily="34" charset="0"/>
                <a:ea typeface="Calibri" pitchFamily="34" charset="-122"/>
                <a:cs typeface="Calibri" pitchFamily="34" charset="-120"/>
              </a:rPr>
              <a:t>Future Enhancements</a:t>
            </a:r>
            <a:endParaRPr lang="en-US" sz="1500" dirty="0"/>
          </a:p>
        </p:txBody>
      </p:sp>
      <p:sp>
        <p:nvSpPr>
          <p:cNvPr id="17" name="Text 15"/>
          <p:cNvSpPr/>
          <p:nvPr/>
        </p:nvSpPr>
        <p:spPr>
          <a:xfrm>
            <a:off x="4937760" y="1481328"/>
            <a:ext cx="3749040" cy="320040"/>
          </a:xfrm>
          <a:prstGeom prst="rect">
            <a:avLst/>
          </a:prstGeom>
          <a:noFill/>
          <a:ln/>
        </p:spPr>
        <p:txBody>
          <a:bodyPr wrap="square" rtlCol="0" anchor="ctr"/>
          <a:lstStyle/>
          <a:p>
            <a:pPr marL="0" indent="0">
              <a:buNone/>
            </a:pPr>
            <a:r>
              <a:rPr lang="en-US" sz="1100" dirty="0">
                <a:solidFill>
                  <a:srgbClr val="C8D8F0"/>
                </a:solidFill>
                <a:latin typeface="Calibri" pitchFamily="34" charset="0"/>
                <a:ea typeface="Calibri" pitchFamily="34" charset="-122"/>
                <a:cs typeface="Calibri" pitchFamily="34" charset="-120"/>
              </a:rPr>
              <a:t>▸  Cloud deployment (Render + Vercel)</a:t>
            </a:r>
            <a:endParaRPr lang="en-US" sz="1100" dirty="0"/>
          </a:p>
        </p:txBody>
      </p:sp>
      <p:sp>
        <p:nvSpPr>
          <p:cNvPr id="18" name="Text 16"/>
          <p:cNvSpPr/>
          <p:nvPr/>
        </p:nvSpPr>
        <p:spPr>
          <a:xfrm>
            <a:off x="4937760" y="1865376"/>
            <a:ext cx="3749040" cy="320040"/>
          </a:xfrm>
          <a:prstGeom prst="rect">
            <a:avLst/>
          </a:prstGeom>
          <a:noFill/>
          <a:ln/>
        </p:spPr>
        <p:txBody>
          <a:bodyPr wrap="square" rtlCol="0" anchor="ctr"/>
          <a:lstStyle/>
          <a:p>
            <a:pPr marL="0" indent="0">
              <a:buNone/>
            </a:pPr>
            <a:r>
              <a:rPr lang="en-US" sz="1100" dirty="0">
                <a:solidFill>
                  <a:srgbClr val="C8D8F0"/>
                </a:solidFill>
                <a:latin typeface="Calibri" pitchFamily="34" charset="0"/>
                <a:ea typeface="Calibri" pitchFamily="34" charset="-122"/>
                <a:cs typeface="Calibri" pitchFamily="34" charset="-120"/>
              </a:rPr>
              <a:t>▸  Multi-product &amp; category forecasting</a:t>
            </a:r>
            <a:endParaRPr lang="en-US" sz="1100" dirty="0"/>
          </a:p>
        </p:txBody>
      </p:sp>
      <p:sp>
        <p:nvSpPr>
          <p:cNvPr id="19" name="Text 17"/>
          <p:cNvSpPr/>
          <p:nvPr/>
        </p:nvSpPr>
        <p:spPr>
          <a:xfrm>
            <a:off x="4937760" y="2249424"/>
            <a:ext cx="3749040" cy="320040"/>
          </a:xfrm>
          <a:prstGeom prst="rect">
            <a:avLst/>
          </a:prstGeom>
          <a:noFill/>
          <a:ln/>
        </p:spPr>
        <p:txBody>
          <a:bodyPr wrap="square" rtlCol="0" anchor="ctr"/>
          <a:lstStyle/>
          <a:p>
            <a:pPr marL="0" indent="0">
              <a:buNone/>
            </a:pPr>
            <a:r>
              <a:rPr lang="en-US" sz="1100" dirty="0">
                <a:solidFill>
                  <a:srgbClr val="C8D8F0"/>
                </a:solidFill>
                <a:latin typeface="Calibri" pitchFamily="34" charset="0"/>
                <a:ea typeface="Calibri" pitchFamily="34" charset="-122"/>
                <a:cs typeface="Calibri" pitchFamily="34" charset="-120"/>
              </a:rPr>
              <a:t>▸  Email alerts when stock hits ROP</a:t>
            </a:r>
            <a:endParaRPr lang="en-US" sz="1100" dirty="0"/>
          </a:p>
        </p:txBody>
      </p:sp>
      <p:sp>
        <p:nvSpPr>
          <p:cNvPr id="20" name="Text 18"/>
          <p:cNvSpPr/>
          <p:nvPr/>
        </p:nvSpPr>
        <p:spPr>
          <a:xfrm>
            <a:off x="4937760" y="2633472"/>
            <a:ext cx="3749040" cy="320040"/>
          </a:xfrm>
          <a:prstGeom prst="rect">
            <a:avLst/>
          </a:prstGeom>
          <a:noFill/>
          <a:ln/>
        </p:spPr>
        <p:txBody>
          <a:bodyPr wrap="square" rtlCol="0" anchor="ctr"/>
          <a:lstStyle/>
          <a:p>
            <a:pPr marL="0" indent="0">
              <a:buNone/>
            </a:pPr>
            <a:r>
              <a:rPr lang="en-US" sz="1100" dirty="0">
                <a:solidFill>
                  <a:srgbClr val="C8D8F0"/>
                </a:solidFill>
                <a:latin typeface="Calibri" pitchFamily="34" charset="0"/>
                <a:ea typeface="Calibri" pitchFamily="34" charset="-122"/>
                <a:cs typeface="Calibri" pitchFamily="34" charset="-120"/>
              </a:rPr>
              <a:t>▸  PDF report download from dashboard</a:t>
            </a:r>
            <a:endParaRPr lang="en-US" sz="1100" dirty="0"/>
          </a:p>
        </p:txBody>
      </p:sp>
      <p:sp>
        <p:nvSpPr>
          <p:cNvPr id="21" name="Text 19"/>
          <p:cNvSpPr/>
          <p:nvPr/>
        </p:nvSpPr>
        <p:spPr>
          <a:xfrm>
            <a:off x="4937760" y="3017520"/>
            <a:ext cx="3749040" cy="320040"/>
          </a:xfrm>
          <a:prstGeom prst="rect">
            <a:avLst/>
          </a:prstGeom>
          <a:noFill/>
          <a:ln/>
        </p:spPr>
        <p:txBody>
          <a:bodyPr wrap="square" rtlCol="0" anchor="ctr"/>
          <a:lstStyle/>
          <a:p>
            <a:pPr marL="0" indent="0">
              <a:buNone/>
            </a:pPr>
            <a:r>
              <a:rPr lang="en-US" sz="1100" dirty="0">
                <a:solidFill>
                  <a:srgbClr val="C8D8F0"/>
                </a:solidFill>
                <a:latin typeface="Calibri" pitchFamily="34" charset="0"/>
                <a:ea typeface="Calibri" pitchFamily="34" charset="-122"/>
                <a:cs typeface="Calibri" pitchFamily="34" charset="-120"/>
              </a:rPr>
              <a:t>▸  JWT-based user authentication</a:t>
            </a:r>
            <a:endParaRPr lang="en-US" sz="1100" dirty="0"/>
          </a:p>
        </p:txBody>
      </p:sp>
      <p:sp>
        <p:nvSpPr>
          <p:cNvPr id="22" name="Text 20"/>
          <p:cNvSpPr/>
          <p:nvPr/>
        </p:nvSpPr>
        <p:spPr>
          <a:xfrm>
            <a:off x="4937760" y="3401568"/>
            <a:ext cx="3749040" cy="320040"/>
          </a:xfrm>
          <a:prstGeom prst="rect">
            <a:avLst/>
          </a:prstGeom>
          <a:noFill/>
          <a:ln/>
        </p:spPr>
        <p:txBody>
          <a:bodyPr wrap="square" rtlCol="0" anchor="ctr"/>
          <a:lstStyle/>
          <a:p>
            <a:pPr marL="0" indent="0">
              <a:buNone/>
            </a:pPr>
            <a:r>
              <a:rPr lang="en-US" sz="1100" dirty="0">
                <a:solidFill>
                  <a:srgbClr val="C8D8F0"/>
                </a:solidFill>
                <a:latin typeface="Calibri" pitchFamily="34" charset="0"/>
                <a:ea typeface="Calibri" pitchFamily="34" charset="-122"/>
                <a:cs typeface="Calibri" pitchFamily="34" charset="-120"/>
              </a:rPr>
              <a:t>▸  Automated model retraining pipeline</a:t>
            </a:r>
            <a:endParaRPr lang="en-US" sz="1100" dirty="0"/>
          </a:p>
        </p:txBody>
      </p:sp>
      <p:sp>
        <p:nvSpPr>
          <p:cNvPr id="23" name="Text 21"/>
          <p:cNvSpPr/>
          <p:nvPr/>
        </p:nvSpPr>
        <p:spPr>
          <a:xfrm>
            <a:off x="4937760" y="3785616"/>
            <a:ext cx="3749040" cy="320040"/>
          </a:xfrm>
          <a:prstGeom prst="rect">
            <a:avLst/>
          </a:prstGeom>
          <a:noFill/>
          <a:ln/>
        </p:spPr>
        <p:txBody>
          <a:bodyPr wrap="square" rtlCol="0" anchor="ctr"/>
          <a:lstStyle/>
          <a:p>
            <a:pPr marL="0" indent="0">
              <a:buNone/>
            </a:pPr>
            <a:r>
              <a:rPr lang="en-US" sz="1100" dirty="0">
                <a:solidFill>
                  <a:srgbClr val="C8D8F0"/>
                </a:solidFill>
                <a:latin typeface="Calibri" pitchFamily="34" charset="0"/>
                <a:ea typeface="Calibri" pitchFamily="34" charset="-122"/>
                <a:cs typeface="Calibri" pitchFamily="34" charset="-120"/>
              </a:rPr>
              <a:t>▸  12 and 24-month forecast horizons</a:t>
            </a:r>
            <a:endParaRPr lang="en-US" sz="1100" dirty="0"/>
          </a:p>
        </p:txBody>
      </p:sp>
      <p:sp>
        <p:nvSpPr>
          <p:cNvPr id="24" name="Shape 22"/>
          <p:cNvSpPr/>
          <p:nvPr/>
        </p:nvSpPr>
        <p:spPr>
          <a:xfrm>
            <a:off x="365760" y="4572000"/>
            <a:ext cx="8412480" cy="384048"/>
          </a:xfrm>
          <a:prstGeom prst="rect">
            <a:avLst/>
          </a:prstGeom>
          <a:solidFill>
            <a:srgbClr val="162033"/>
          </a:solidFill>
          <a:ln w="6350">
            <a:solidFill>
              <a:srgbClr val="2A3F6A"/>
            </a:solidFill>
            <a:prstDash val="solid"/>
          </a:ln>
          <a:effectLst>
            <a:outerShdw blurRad="101600" dist="25400" dir="8100000" algn="bl" rotWithShape="0">
              <a:srgbClr val="000000">
                <a:alpha val="20000"/>
              </a:srgbClr>
            </a:outerShdw>
          </a:effectLst>
        </p:spPr>
        <p:txBody>
          <a:bodyPr/>
          <a:lstStyle/>
          <a:p>
            <a:endParaRPr lang="en-US"/>
          </a:p>
        </p:txBody>
      </p:sp>
      <p:sp>
        <p:nvSpPr>
          <p:cNvPr id="25" name="Text 23"/>
          <p:cNvSpPr/>
          <p:nvPr/>
        </p:nvSpPr>
        <p:spPr>
          <a:xfrm>
            <a:off x="457200" y="4626864"/>
            <a:ext cx="8229600" cy="274320"/>
          </a:xfrm>
          <a:prstGeom prst="rect">
            <a:avLst/>
          </a:prstGeom>
          <a:noFill/>
          <a:ln/>
        </p:spPr>
        <p:txBody>
          <a:bodyPr wrap="square" rtlCol="0" anchor="ctr"/>
          <a:lstStyle/>
          <a:p>
            <a:pPr marL="0" indent="0" algn="ctr">
              <a:buNone/>
            </a:pPr>
            <a:r>
              <a:rPr lang="en-US" sz="1000" dirty="0">
                <a:solidFill>
                  <a:srgbClr val="8899BB"/>
                </a:solidFill>
                <a:latin typeface="Calibri" pitchFamily="34" charset="0"/>
                <a:ea typeface="Calibri" pitchFamily="34" charset="-122"/>
                <a:cs typeface="Calibri" pitchFamily="34" charset="-120"/>
              </a:rPr>
              <a:t>DemandSense  |  Bennett University  |  Team: Sanchit · Lakshay · Aniket · Aditya  |  Mentor: Prof. Ankit Vijay Bansal  |  April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961</Words>
  <Application>Microsoft Macintosh PowerPoint</Application>
  <PresentationFormat>On-screen Show (16:9)</PresentationFormat>
  <Paragraphs>195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DemandSense</dc:title>
  <dc:subject>PptxGenJS Presentation</dc:subject>
  <dc:creator>Sanchit Khandelwal</dc:creator>
  <cp:lastModifiedBy>Sanchit Khandelwal</cp:lastModifiedBy>
  <cp:revision>1</cp:revision>
  <dcterms:created xsi:type="dcterms:W3CDTF">2026-04-12T17:05:57Z</dcterms:created>
  <dcterms:modified xsi:type="dcterms:W3CDTF">2026-04-12T17:08:11Z</dcterms:modified>
</cp:coreProperties>
</file>